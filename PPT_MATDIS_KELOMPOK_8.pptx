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TT Hoves" charset="1" panose="02000003020000060003"/>
      <p:regular r:id="rId21"/>
    </p:embeddedFont>
    <p:embeddedFont>
      <p:font typeface="TT Hoves Bold" charset="1" panose="020000030200000600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jpe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jpeg" Type="http://schemas.openxmlformats.org/officeDocument/2006/relationships/image"/><Relationship Id="rId4" Target="../media/image8.jpeg" Type="http://schemas.openxmlformats.org/officeDocument/2006/relationships/image"/><Relationship Id="rId5" Target="../media/image6.jpe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9.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464734" y="603722"/>
            <a:ext cx="17358533" cy="849956"/>
            <a:chOff x="0" y="0"/>
            <a:chExt cx="4571795" cy="223857"/>
          </a:xfrm>
        </p:grpSpPr>
        <p:sp>
          <p:nvSpPr>
            <p:cNvPr name="Freeform 7" id="7"/>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8" id="8"/>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10800000">
            <a:off x="4237243" y="2671397"/>
            <a:ext cx="14431260" cy="5274823"/>
            <a:chOff x="0" y="0"/>
            <a:chExt cx="3800826" cy="1389254"/>
          </a:xfrm>
        </p:grpSpPr>
        <p:sp>
          <p:nvSpPr>
            <p:cNvPr name="Freeform 10" id="10"/>
            <p:cNvSpPr/>
            <p:nvPr/>
          </p:nvSpPr>
          <p:spPr>
            <a:xfrm flipH="false" flipV="false" rot="0">
              <a:off x="0" y="0"/>
              <a:ext cx="3800826" cy="1389254"/>
            </a:xfrm>
            <a:custGeom>
              <a:avLst/>
              <a:gdLst/>
              <a:ahLst/>
              <a:cxnLst/>
              <a:rect r="r" b="b" t="t" l="l"/>
              <a:pathLst>
                <a:path h="1389254" w="3800826">
                  <a:moveTo>
                    <a:pt x="0" y="0"/>
                  </a:moveTo>
                  <a:lnTo>
                    <a:pt x="3800826" y="0"/>
                  </a:lnTo>
                  <a:lnTo>
                    <a:pt x="3800826" y="1389254"/>
                  </a:lnTo>
                  <a:lnTo>
                    <a:pt x="0" y="1389254"/>
                  </a:lnTo>
                  <a:close/>
                </a:path>
              </a:pathLst>
            </a:custGeom>
            <a:gradFill rotWithShape="true">
              <a:gsLst>
                <a:gs pos="0">
                  <a:srgbClr val="596615">
                    <a:alpha val="100000"/>
                  </a:srgbClr>
                </a:gs>
                <a:gs pos="100000">
                  <a:srgbClr val="000000">
                    <a:alpha val="0"/>
                  </a:srgbClr>
                </a:gs>
              </a:gsLst>
              <a:lin ang="0"/>
            </a:gradFill>
          </p:spPr>
        </p:sp>
        <p:sp>
          <p:nvSpPr>
            <p:cNvPr name="TextBox 11" id="11"/>
            <p:cNvSpPr txBox="true"/>
            <p:nvPr/>
          </p:nvSpPr>
          <p:spPr>
            <a:xfrm>
              <a:off x="0" y="-57150"/>
              <a:ext cx="3800826" cy="1446404"/>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028700" y="875368"/>
            <a:ext cx="309008" cy="304144"/>
          </a:xfrm>
          <a:custGeom>
            <a:avLst/>
            <a:gdLst/>
            <a:ahLst/>
            <a:cxnLst/>
            <a:rect r="r" b="b" t="t" l="l"/>
            <a:pathLst>
              <a:path h="304144" w="309008">
                <a:moveTo>
                  <a:pt x="0" y="0"/>
                </a:moveTo>
                <a:lnTo>
                  <a:pt x="309008" y="0"/>
                </a:lnTo>
                <a:lnTo>
                  <a:pt x="309008" y="304144"/>
                </a:lnTo>
                <a:lnTo>
                  <a:pt x="0" y="3041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856544" y="5712297"/>
            <a:ext cx="11760862" cy="1757180"/>
            <a:chOff x="0" y="0"/>
            <a:chExt cx="3491760" cy="521701"/>
          </a:xfrm>
        </p:grpSpPr>
        <p:sp>
          <p:nvSpPr>
            <p:cNvPr name="Freeform 14" id="14"/>
            <p:cNvSpPr/>
            <p:nvPr/>
          </p:nvSpPr>
          <p:spPr>
            <a:xfrm flipH="false" flipV="false" rot="0">
              <a:off x="0" y="0"/>
              <a:ext cx="3491760" cy="521701"/>
            </a:xfrm>
            <a:custGeom>
              <a:avLst/>
              <a:gdLst/>
              <a:ahLst/>
              <a:cxnLst/>
              <a:rect r="r" b="b" t="t" l="l"/>
              <a:pathLst>
                <a:path h="521701" w="3491760">
                  <a:moveTo>
                    <a:pt x="65828" y="0"/>
                  </a:moveTo>
                  <a:lnTo>
                    <a:pt x="3425932" y="0"/>
                  </a:lnTo>
                  <a:cubicBezTo>
                    <a:pt x="3443391" y="0"/>
                    <a:pt x="3460135" y="6935"/>
                    <a:pt x="3472480" y="19281"/>
                  </a:cubicBezTo>
                  <a:cubicBezTo>
                    <a:pt x="3484825" y="31626"/>
                    <a:pt x="3491760" y="48369"/>
                    <a:pt x="3491760" y="65828"/>
                  </a:cubicBezTo>
                  <a:lnTo>
                    <a:pt x="3491760" y="455873"/>
                  </a:lnTo>
                  <a:cubicBezTo>
                    <a:pt x="3491760" y="473332"/>
                    <a:pt x="3484825" y="490075"/>
                    <a:pt x="3472480" y="502420"/>
                  </a:cubicBezTo>
                  <a:cubicBezTo>
                    <a:pt x="3460135" y="514765"/>
                    <a:pt x="3443391" y="521701"/>
                    <a:pt x="3425932" y="521701"/>
                  </a:cubicBezTo>
                  <a:lnTo>
                    <a:pt x="65828" y="521701"/>
                  </a:lnTo>
                  <a:cubicBezTo>
                    <a:pt x="48369" y="521701"/>
                    <a:pt x="31626" y="514765"/>
                    <a:pt x="19281" y="502420"/>
                  </a:cubicBezTo>
                  <a:cubicBezTo>
                    <a:pt x="6935" y="490075"/>
                    <a:pt x="0" y="473332"/>
                    <a:pt x="0" y="455873"/>
                  </a:cubicBezTo>
                  <a:lnTo>
                    <a:pt x="0" y="65828"/>
                  </a:lnTo>
                  <a:cubicBezTo>
                    <a:pt x="0" y="48369"/>
                    <a:pt x="6935" y="31626"/>
                    <a:pt x="19281" y="19281"/>
                  </a:cubicBezTo>
                  <a:cubicBezTo>
                    <a:pt x="31626" y="6935"/>
                    <a:pt x="48369" y="0"/>
                    <a:pt x="65828" y="0"/>
                  </a:cubicBezTo>
                  <a:close/>
                </a:path>
              </a:pathLst>
            </a:custGeom>
            <a:gradFill rotWithShape="true">
              <a:gsLst>
                <a:gs pos="0">
                  <a:srgbClr val="596615">
                    <a:alpha val="100000"/>
                  </a:srgbClr>
                </a:gs>
                <a:gs pos="100000">
                  <a:srgbClr val="7E9218">
                    <a:alpha val="100000"/>
                  </a:srgbClr>
                </a:gs>
              </a:gsLst>
              <a:lin ang="0"/>
            </a:gradFill>
          </p:spPr>
        </p:sp>
        <p:sp>
          <p:nvSpPr>
            <p:cNvPr name="TextBox 15" id="15"/>
            <p:cNvSpPr txBox="true"/>
            <p:nvPr/>
          </p:nvSpPr>
          <p:spPr>
            <a:xfrm>
              <a:off x="0" y="-47625"/>
              <a:ext cx="3491760" cy="569326"/>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15465057" y="8882367"/>
            <a:ext cx="1794243" cy="751867"/>
            <a:chOff x="0" y="0"/>
            <a:chExt cx="969826" cy="406400"/>
          </a:xfrm>
        </p:grpSpPr>
        <p:sp>
          <p:nvSpPr>
            <p:cNvPr name="Freeform 17" id="17"/>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18" id="18"/>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sp>
        <p:nvSpPr>
          <p:cNvPr name="TextBox 19" id="19"/>
          <p:cNvSpPr txBox="true"/>
          <p:nvPr/>
        </p:nvSpPr>
        <p:spPr>
          <a:xfrm rot="0">
            <a:off x="2277634" y="3195765"/>
            <a:ext cx="11827263" cy="2279308"/>
          </a:xfrm>
          <a:prstGeom prst="rect">
            <a:avLst/>
          </a:prstGeom>
        </p:spPr>
        <p:txBody>
          <a:bodyPr anchor="t" rtlCol="false" tIns="0" lIns="0" bIns="0" rIns="0">
            <a:spAutoFit/>
          </a:bodyPr>
          <a:lstStyle/>
          <a:p>
            <a:pPr algn="l" marL="0" indent="0" lvl="0">
              <a:lnSpc>
                <a:spcPts val="8973"/>
              </a:lnSpc>
            </a:pPr>
            <a:r>
              <a:rPr lang="en-US" sz="7871">
                <a:solidFill>
                  <a:srgbClr val="FFFFFF"/>
                </a:solidFill>
                <a:latin typeface="TT Hoves"/>
                <a:ea typeface="TT Hoves"/>
                <a:cs typeface="TT Hoves"/>
                <a:sym typeface="TT Hoves"/>
              </a:rPr>
              <a:t>Perancangan Simulasi Rute Mojokerto–Jombang</a:t>
            </a:r>
          </a:p>
        </p:txBody>
      </p:sp>
      <p:sp>
        <p:nvSpPr>
          <p:cNvPr name="TextBox 20" id="20"/>
          <p:cNvSpPr txBox="true"/>
          <p:nvPr/>
        </p:nvSpPr>
        <p:spPr>
          <a:xfrm rot="0">
            <a:off x="2277634" y="5822537"/>
            <a:ext cx="11166495" cy="1464945"/>
          </a:xfrm>
          <a:prstGeom prst="rect">
            <a:avLst/>
          </a:prstGeom>
        </p:spPr>
        <p:txBody>
          <a:bodyPr anchor="t" rtlCol="false" tIns="0" lIns="0" bIns="0" rIns="0">
            <a:spAutoFit/>
          </a:bodyPr>
          <a:lstStyle/>
          <a:p>
            <a:pPr algn="l" marL="0" indent="0" lvl="0">
              <a:lnSpc>
                <a:spcPts val="5879"/>
              </a:lnSpc>
              <a:spcBef>
                <a:spcPct val="0"/>
              </a:spcBef>
            </a:pPr>
            <a:r>
              <a:rPr lang="en-US" sz="4199">
                <a:solidFill>
                  <a:srgbClr val="FFFFFF"/>
                </a:solidFill>
                <a:latin typeface="TT Hoves"/>
                <a:ea typeface="TT Hoves"/>
                <a:cs typeface="TT Hoves"/>
                <a:sym typeface="TT Hoves"/>
              </a:rPr>
              <a:t>Berbasis Teori Graf pada Sistem Transportasi TransJatim</a:t>
            </a:r>
          </a:p>
        </p:txBody>
      </p:sp>
      <p:sp>
        <p:nvSpPr>
          <p:cNvPr name="TextBox 21" id="21"/>
          <p:cNvSpPr txBox="true"/>
          <p:nvPr/>
        </p:nvSpPr>
        <p:spPr>
          <a:xfrm rot="0">
            <a:off x="13202048" y="830263"/>
            <a:ext cx="4057252" cy="349250"/>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grpSp>
        <p:nvGrpSpPr>
          <p:cNvPr name="Group 22" id="22"/>
          <p:cNvGrpSpPr/>
          <p:nvPr/>
        </p:nvGrpSpPr>
        <p:grpSpPr>
          <a:xfrm rot="0">
            <a:off x="1856544" y="8506433"/>
            <a:ext cx="3635249" cy="751867"/>
            <a:chOff x="0" y="0"/>
            <a:chExt cx="4846999" cy="1002489"/>
          </a:xfrm>
        </p:grpSpPr>
        <p:grpSp>
          <p:nvGrpSpPr>
            <p:cNvPr name="Group 23" id="23"/>
            <p:cNvGrpSpPr/>
            <p:nvPr/>
          </p:nvGrpSpPr>
          <p:grpSpPr>
            <a:xfrm rot="0">
              <a:off x="0" y="0"/>
              <a:ext cx="4846999" cy="1002489"/>
              <a:chOff x="0" y="0"/>
              <a:chExt cx="1964929" cy="406400"/>
            </a:xfrm>
          </p:grpSpPr>
          <p:sp>
            <p:nvSpPr>
              <p:cNvPr name="Freeform 24" id="24"/>
              <p:cNvSpPr/>
              <p:nvPr/>
            </p:nvSpPr>
            <p:spPr>
              <a:xfrm flipH="false" flipV="false" rot="0">
                <a:off x="0" y="0"/>
                <a:ext cx="1964929" cy="406400"/>
              </a:xfrm>
              <a:custGeom>
                <a:avLst/>
                <a:gdLst/>
                <a:ahLst/>
                <a:cxnLst/>
                <a:rect r="r" b="b" t="t" l="l"/>
                <a:pathLst>
                  <a:path h="406400" w="1964929">
                    <a:moveTo>
                      <a:pt x="1761729" y="0"/>
                    </a:moveTo>
                    <a:cubicBezTo>
                      <a:pt x="1873954" y="0"/>
                      <a:pt x="1964929" y="90976"/>
                      <a:pt x="1964929" y="203200"/>
                    </a:cubicBezTo>
                    <a:cubicBezTo>
                      <a:pt x="1964929" y="315424"/>
                      <a:pt x="1873954" y="406400"/>
                      <a:pt x="176172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25" id="25"/>
              <p:cNvSpPr txBox="true"/>
              <p:nvPr/>
            </p:nvSpPr>
            <p:spPr>
              <a:xfrm>
                <a:off x="0" y="-47625"/>
                <a:ext cx="1964929" cy="454025"/>
              </a:xfrm>
              <a:prstGeom prst="rect">
                <a:avLst/>
              </a:prstGeom>
            </p:spPr>
            <p:txBody>
              <a:bodyPr anchor="ctr" rtlCol="false" tIns="50800" lIns="50800" bIns="50800" rIns="50800"/>
              <a:lstStyle/>
              <a:p>
                <a:pPr algn="ctr">
                  <a:lnSpc>
                    <a:spcPts val="2800"/>
                  </a:lnSpc>
                </a:pPr>
              </a:p>
            </p:txBody>
          </p:sp>
        </p:grpSp>
        <p:sp>
          <p:nvSpPr>
            <p:cNvPr name="AutoShape 26" id="26"/>
            <p:cNvSpPr/>
            <p:nvPr/>
          </p:nvSpPr>
          <p:spPr>
            <a:xfrm>
              <a:off x="3017035" y="501245"/>
              <a:ext cx="1396700" cy="0"/>
            </a:xfrm>
            <a:prstGeom prst="line">
              <a:avLst/>
            </a:prstGeom>
            <a:ln cap="flat" w="25400">
              <a:solidFill>
                <a:srgbClr val="FFFFFF"/>
              </a:solidFill>
              <a:prstDash val="solid"/>
              <a:headEnd type="none" len="sm" w="sm"/>
              <a:tailEnd type="arrow" len="sm" w="med"/>
            </a:ln>
          </p:spPr>
        </p:sp>
        <p:sp>
          <p:nvSpPr>
            <p:cNvPr name="TextBox 27" id="27"/>
            <p:cNvSpPr txBox="true"/>
            <p:nvPr/>
          </p:nvSpPr>
          <p:spPr>
            <a:xfrm rot="0">
              <a:off x="664008" y="252536"/>
              <a:ext cx="2271839" cy="4497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NEXT SLIDE</a:t>
              </a:r>
            </a:p>
          </p:txBody>
        </p:sp>
      </p:grpSp>
      <p:sp>
        <p:nvSpPr>
          <p:cNvPr name="TextBox 28" id="28"/>
          <p:cNvSpPr txBox="true"/>
          <p:nvPr/>
        </p:nvSpPr>
        <p:spPr>
          <a:xfrm rot="0">
            <a:off x="1468512" y="830263"/>
            <a:ext cx="2368435" cy="349250"/>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sp>
        <p:nvSpPr>
          <p:cNvPr name="TextBox 29" id="29"/>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9944609" y="7940352"/>
            <a:ext cx="3928378" cy="942015"/>
            <a:chOff x="0" y="0"/>
            <a:chExt cx="1166322" cy="279681"/>
          </a:xfrm>
        </p:grpSpPr>
        <p:sp>
          <p:nvSpPr>
            <p:cNvPr name="Freeform 7" id="7"/>
            <p:cNvSpPr/>
            <p:nvPr/>
          </p:nvSpPr>
          <p:spPr>
            <a:xfrm flipH="false" flipV="false" rot="0">
              <a:off x="0" y="0"/>
              <a:ext cx="1166322" cy="279681"/>
            </a:xfrm>
            <a:custGeom>
              <a:avLst/>
              <a:gdLst/>
              <a:ahLst/>
              <a:cxnLst/>
              <a:rect r="r" b="b" t="t" l="l"/>
              <a:pathLst>
                <a:path h="279681" w="1166322">
                  <a:moveTo>
                    <a:pt x="68977" y="0"/>
                  </a:moveTo>
                  <a:lnTo>
                    <a:pt x="1097345" y="0"/>
                  </a:lnTo>
                  <a:cubicBezTo>
                    <a:pt x="1135440" y="0"/>
                    <a:pt x="1166322" y="30882"/>
                    <a:pt x="1166322" y="68977"/>
                  </a:cubicBezTo>
                  <a:lnTo>
                    <a:pt x="1166322" y="210704"/>
                  </a:lnTo>
                  <a:cubicBezTo>
                    <a:pt x="1166322" y="228998"/>
                    <a:pt x="1159055" y="246542"/>
                    <a:pt x="1146119" y="259478"/>
                  </a:cubicBezTo>
                  <a:cubicBezTo>
                    <a:pt x="1133184" y="272414"/>
                    <a:pt x="1115639" y="279681"/>
                    <a:pt x="1097345" y="279681"/>
                  </a:cubicBezTo>
                  <a:lnTo>
                    <a:pt x="68977" y="279681"/>
                  </a:lnTo>
                  <a:cubicBezTo>
                    <a:pt x="50683" y="279681"/>
                    <a:pt x="33139" y="272414"/>
                    <a:pt x="20203" y="259478"/>
                  </a:cubicBezTo>
                  <a:cubicBezTo>
                    <a:pt x="7267" y="246542"/>
                    <a:pt x="0" y="228998"/>
                    <a:pt x="0" y="210704"/>
                  </a:cubicBezTo>
                  <a:lnTo>
                    <a:pt x="0" y="68977"/>
                  </a:lnTo>
                  <a:cubicBezTo>
                    <a:pt x="0" y="50683"/>
                    <a:pt x="7267" y="33139"/>
                    <a:pt x="20203" y="20203"/>
                  </a:cubicBezTo>
                  <a:cubicBezTo>
                    <a:pt x="33139" y="7267"/>
                    <a:pt x="50683" y="0"/>
                    <a:pt x="68977" y="0"/>
                  </a:cubicBezTo>
                  <a:close/>
                </a:path>
              </a:pathLst>
            </a:custGeom>
            <a:gradFill rotWithShape="true">
              <a:gsLst>
                <a:gs pos="0">
                  <a:srgbClr val="596615">
                    <a:alpha val="100000"/>
                  </a:srgbClr>
                </a:gs>
                <a:gs pos="100000">
                  <a:srgbClr val="596614">
                    <a:alpha val="0"/>
                  </a:srgbClr>
                </a:gs>
              </a:gsLst>
              <a:lin ang="0"/>
            </a:gradFill>
          </p:spPr>
        </p:sp>
        <p:sp>
          <p:nvSpPr>
            <p:cNvPr name="TextBox 8" id="8"/>
            <p:cNvSpPr txBox="true"/>
            <p:nvPr/>
          </p:nvSpPr>
          <p:spPr>
            <a:xfrm>
              <a:off x="0" y="-47625"/>
              <a:ext cx="1166322" cy="327306"/>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0">
            <a:off x="12057157" y="2709555"/>
            <a:ext cx="4734540" cy="4734540"/>
            <a:chOff x="0" y="0"/>
            <a:chExt cx="1246957" cy="1246957"/>
          </a:xfrm>
        </p:grpSpPr>
        <p:sp>
          <p:nvSpPr>
            <p:cNvPr name="Freeform 10" id="10"/>
            <p:cNvSpPr/>
            <p:nvPr/>
          </p:nvSpPr>
          <p:spPr>
            <a:xfrm flipH="false" flipV="false" rot="0">
              <a:off x="0" y="0"/>
              <a:ext cx="1246957" cy="1246957"/>
            </a:xfrm>
            <a:custGeom>
              <a:avLst/>
              <a:gdLst/>
              <a:ahLst/>
              <a:cxnLst/>
              <a:rect r="r" b="b" t="t" l="l"/>
              <a:pathLst>
                <a:path h="1246957" w="1246957">
                  <a:moveTo>
                    <a:pt x="83395" y="0"/>
                  </a:moveTo>
                  <a:lnTo>
                    <a:pt x="1163562" y="0"/>
                  </a:lnTo>
                  <a:cubicBezTo>
                    <a:pt x="1185680" y="0"/>
                    <a:pt x="1206892" y="8786"/>
                    <a:pt x="1222531" y="24426"/>
                  </a:cubicBezTo>
                  <a:cubicBezTo>
                    <a:pt x="1238171" y="40066"/>
                    <a:pt x="1246957" y="61277"/>
                    <a:pt x="1246957" y="83395"/>
                  </a:cubicBezTo>
                  <a:lnTo>
                    <a:pt x="1246957" y="1163562"/>
                  </a:lnTo>
                  <a:cubicBezTo>
                    <a:pt x="1246957" y="1185680"/>
                    <a:pt x="1238171" y="1206892"/>
                    <a:pt x="1222531" y="1222531"/>
                  </a:cubicBezTo>
                  <a:cubicBezTo>
                    <a:pt x="1206892" y="1238171"/>
                    <a:pt x="1185680" y="1246957"/>
                    <a:pt x="1163562" y="1246957"/>
                  </a:cubicBezTo>
                  <a:lnTo>
                    <a:pt x="83395" y="1246957"/>
                  </a:lnTo>
                  <a:cubicBezTo>
                    <a:pt x="61277" y="1246957"/>
                    <a:pt x="40066" y="1238171"/>
                    <a:pt x="24426" y="1222531"/>
                  </a:cubicBezTo>
                  <a:cubicBezTo>
                    <a:pt x="8786" y="1206892"/>
                    <a:pt x="0" y="1185680"/>
                    <a:pt x="0" y="1163562"/>
                  </a:cubicBezTo>
                  <a:lnTo>
                    <a:pt x="0" y="83395"/>
                  </a:lnTo>
                  <a:cubicBezTo>
                    <a:pt x="0" y="61277"/>
                    <a:pt x="8786" y="40066"/>
                    <a:pt x="24426" y="24426"/>
                  </a:cubicBezTo>
                  <a:cubicBezTo>
                    <a:pt x="40066" y="8786"/>
                    <a:pt x="61277" y="0"/>
                    <a:pt x="83395" y="0"/>
                  </a:cubicBezTo>
                  <a:close/>
                </a:path>
              </a:pathLst>
            </a:custGeom>
            <a:gradFill rotWithShape="true">
              <a:gsLst>
                <a:gs pos="0">
                  <a:srgbClr val="596615">
                    <a:alpha val="100000"/>
                  </a:srgbClr>
                </a:gs>
                <a:gs pos="100000">
                  <a:srgbClr val="7E9218">
                    <a:alpha val="100000"/>
                  </a:srgbClr>
                </a:gs>
              </a:gsLst>
              <a:lin ang="0"/>
            </a:gradFill>
          </p:spPr>
        </p:sp>
        <p:sp>
          <p:nvSpPr>
            <p:cNvPr name="TextBox 11" id="11"/>
            <p:cNvSpPr txBox="true"/>
            <p:nvPr/>
          </p:nvSpPr>
          <p:spPr>
            <a:xfrm>
              <a:off x="0" y="-47625"/>
              <a:ext cx="1246957" cy="1294582"/>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10906515" y="4006931"/>
            <a:ext cx="4463982" cy="446398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71107" y="0"/>
                  </a:moveTo>
                  <a:lnTo>
                    <a:pt x="741693" y="0"/>
                  </a:lnTo>
                  <a:cubicBezTo>
                    <a:pt x="780964" y="0"/>
                    <a:pt x="812800" y="31836"/>
                    <a:pt x="812800" y="71107"/>
                  </a:cubicBezTo>
                  <a:lnTo>
                    <a:pt x="812800" y="741693"/>
                  </a:lnTo>
                  <a:cubicBezTo>
                    <a:pt x="812800" y="780964"/>
                    <a:pt x="780964" y="812800"/>
                    <a:pt x="741693" y="812800"/>
                  </a:cubicBezTo>
                  <a:lnTo>
                    <a:pt x="71107" y="812800"/>
                  </a:lnTo>
                  <a:cubicBezTo>
                    <a:pt x="31836" y="812800"/>
                    <a:pt x="0" y="780964"/>
                    <a:pt x="0" y="741693"/>
                  </a:cubicBezTo>
                  <a:lnTo>
                    <a:pt x="0" y="71107"/>
                  </a:lnTo>
                  <a:cubicBezTo>
                    <a:pt x="0" y="31836"/>
                    <a:pt x="31836" y="0"/>
                    <a:pt x="71107" y="0"/>
                  </a:cubicBezTo>
                  <a:close/>
                </a:path>
              </a:pathLst>
            </a:custGeom>
            <a:blipFill>
              <a:blip r:embed="rId3"/>
              <a:stretch>
                <a:fillRect l="-25000" t="0" r="-25000" b="0"/>
              </a:stretch>
            </a:blipFill>
          </p:spPr>
        </p:sp>
      </p:grpSp>
      <p:grpSp>
        <p:nvGrpSpPr>
          <p:cNvPr name="Group 14" id="14"/>
          <p:cNvGrpSpPr/>
          <p:nvPr/>
        </p:nvGrpSpPr>
        <p:grpSpPr>
          <a:xfrm rot="0">
            <a:off x="13525401" y="2240802"/>
            <a:ext cx="3690191" cy="369019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86017" y="0"/>
                  </a:moveTo>
                  <a:lnTo>
                    <a:pt x="726783" y="0"/>
                  </a:lnTo>
                  <a:cubicBezTo>
                    <a:pt x="774289" y="0"/>
                    <a:pt x="812800" y="38511"/>
                    <a:pt x="812800" y="86017"/>
                  </a:cubicBezTo>
                  <a:lnTo>
                    <a:pt x="812800" y="726783"/>
                  </a:lnTo>
                  <a:cubicBezTo>
                    <a:pt x="812800" y="774289"/>
                    <a:pt x="774289" y="812800"/>
                    <a:pt x="726783" y="812800"/>
                  </a:cubicBezTo>
                  <a:lnTo>
                    <a:pt x="86017" y="812800"/>
                  </a:lnTo>
                  <a:cubicBezTo>
                    <a:pt x="38511" y="812800"/>
                    <a:pt x="0" y="774289"/>
                    <a:pt x="0" y="726783"/>
                  </a:cubicBezTo>
                  <a:lnTo>
                    <a:pt x="0" y="86017"/>
                  </a:lnTo>
                  <a:cubicBezTo>
                    <a:pt x="0" y="38511"/>
                    <a:pt x="38511" y="0"/>
                    <a:pt x="86017" y="0"/>
                  </a:cubicBezTo>
                  <a:close/>
                </a:path>
              </a:pathLst>
            </a:custGeom>
            <a:blipFill>
              <a:blip r:embed="rId4"/>
              <a:stretch>
                <a:fillRect l="-21748" t="0" r="-21748" b="0"/>
              </a:stretch>
            </a:blipFill>
          </p:spPr>
        </p:sp>
      </p:grpSp>
      <p:grpSp>
        <p:nvGrpSpPr>
          <p:cNvPr name="Group 16" id="16"/>
          <p:cNvGrpSpPr/>
          <p:nvPr/>
        </p:nvGrpSpPr>
        <p:grpSpPr>
          <a:xfrm rot="5400000">
            <a:off x="15951225" y="2723789"/>
            <a:ext cx="2366590" cy="1061914"/>
            <a:chOff x="0" y="0"/>
            <a:chExt cx="623299" cy="279681"/>
          </a:xfrm>
        </p:grpSpPr>
        <p:sp>
          <p:nvSpPr>
            <p:cNvPr name="Freeform 17" id="17"/>
            <p:cNvSpPr/>
            <p:nvPr/>
          </p:nvSpPr>
          <p:spPr>
            <a:xfrm flipH="false" flipV="false" rot="0">
              <a:off x="0" y="0"/>
              <a:ext cx="623299" cy="279681"/>
            </a:xfrm>
            <a:custGeom>
              <a:avLst/>
              <a:gdLst/>
              <a:ahLst/>
              <a:cxnLst/>
              <a:rect r="r" b="b" t="t" l="l"/>
              <a:pathLst>
                <a:path h="279681" w="623299">
                  <a:moveTo>
                    <a:pt x="114497" y="0"/>
                  </a:moveTo>
                  <a:lnTo>
                    <a:pt x="508802" y="0"/>
                  </a:lnTo>
                  <a:cubicBezTo>
                    <a:pt x="539169" y="0"/>
                    <a:pt x="568292" y="12063"/>
                    <a:pt x="589764" y="33535"/>
                  </a:cubicBezTo>
                  <a:cubicBezTo>
                    <a:pt x="611236" y="55008"/>
                    <a:pt x="623299" y="84130"/>
                    <a:pt x="623299" y="114497"/>
                  </a:cubicBezTo>
                  <a:lnTo>
                    <a:pt x="623299" y="165184"/>
                  </a:lnTo>
                  <a:cubicBezTo>
                    <a:pt x="623299" y="195551"/>
                    <a:pt x="611236" y="224673"/>
                    <a:pt x="589764" y="246146"/>
                  </a:cubicBezTo>
                  <a:cubicBezTo>
                    <a:pt x="568292" y="267618"/>
                    <a:pt x="539169" y="279681"/>
                    <a:pt x="508802" y="279681"/>
                  </a:cubicBezTo>
                  <a:lnTo>
                    <a:pt x="114497" y="279681"/>
                  </a:lnTo>
                  <a:cubicBezTo>
                    <a:pt x="84130" y="279681"/>
                    <a:pt x="55008" y="267618"/>
                    <a:pt x="33535" y="246146"/>
                  </a:cubicBezTo>
                  <a:cubicBezTo>
                    <a:pt x="12063" y="224673"/>
                    <a:pt x="0" y="195551"/>
                    <a:pt x="0" y="165184"/>
                  </a:cubicBezTo>
                  <a:lnTo>
                    <a:pt x="0" y="114497"/>
                  </a:lnTo>
                  <a:cubicBezTo>
                    <a:pt x="0" y="84130"/>
                    <a:pt x="12063" y="55008"/>
                    <a:pt x="33535" y="33535"/>
                  </a:cubicBezTo>
                  <a:cubicBezTo>
                    <a:pt x="55008" y="12063"/>
                    <a:pt x="84130" y="0"/>
                    <a:pt x="114497" y="0"/>
                  </a:cubicBezTo>
                  <a:close/>
                </a:path>
              </a:pathLst>
            </a:custGeom>
            <a:gradFill rotWithShape="true">
              <a:gsLst>
                <a:gs pos="0">
                  <a:srgbClr val="596615">
                    <a:alpha val="100000"/>
                  </a:srgbClr>
                </a:gs>
                <a:gs pos="100000">
                  <a:srgbClr val="596614">
                    <a:alpha val="0"/>
                  </a:srgbClr>
                </a:gs>
              </a:gsLst>
              <a:lin ang="0"/>
            </a:gradFill>
          </p:spPr>
        </p:sp>
        <p:sp>
          <p:nvSpPr>
            <p:cNvPr name="TextBox 18" id="18"/>
            <p:cNvSpPr txBox="true"/>
            <p:nvPr/>
          </p:nvSpPr>
          <p:spPr>
            <a:xfrm>
              <a:off x="0" y="-47625"/>
              <a:ext cx="623299" cy="327306"/>
            </a:xfrm>
            <a:prstGeom prst="rect">
              <a:avLst/>
            </a:prstGeom>
          </p:spPr>
          <p:txBody>
            <a:bodyPr anchor="ctr" rtlCol="false" tIns="50800" lIns="50800" bIns="50800" rIns="50800"/>
            <a:lstStyle/>
            <a:p>
              <a:pPr algn="ctr">
                <a:lnSpc>
                  <a:spcPts val="2800"/>
                </a:lnSpc>
              </a:pPr>
            </a:p>
          </p:txBody>
        </p:sp>
      </p:grpSp>
      <p:grpSp>
        <p:nvGrpSpPr>
          <p:cNvPr name="Group 19" id="19"/>
          <p:cNvGrpSpPr/>
          <p:nvPr/>
        </p:nvGrpSpPr>
        <p:grpSpPr>
          <a:xfrm rot="0">
            <a:off x="464734" y="603722"/>
            <a:ext cx="17358533" cy="849956"/>
            <a:chOff x="0" y="0"/>
            <a:chExt cx="23144711" cy="1133274"/>
          </a:xfrm>
        </p:grpSpPr>
        <p:grpSp>
          <p:nvGrpSpPr>
            <p:cNvPr name="Group 20" id="20"/>
            <p:cNvGrpSpPr/>
            <p:nvPr/>
          </p:nvGrpSpPr>
          <p:grpSpPr>
            <a:xfrm rot="0">
              <a:off x="0" y="0"/>
              <a:ext cx="23144711" cy="1133274"/>
              <a:chOff x="0" y="0"/>
              <a:chExt cx="4571795" cy="223857"/>
            </a:xfrm>
          </p:grpSpPr>
          <p:sp>
            <p:nvSpPr>
              <p:cNvPr name="Freeform 21" id="21"/>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22" id="22"/>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4" id="24"/>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25" id="25"/>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grpSp>
        <p:nvGrpSpPr>
          <p:cNvPr name="Group 26" id="26"/>
          <p:cNvGrpSpPr/>
          <p:nvPr/>
        </p:nvGrpSpPr>
        <p:grpSpPr>
          <a:xfrm rot="0">
            <a:off x="15465057" y="8882367"/>
            <a:ext cx="1794243" cy="751867"/>
            <a:chOff x="0" y="0"/>
            <a:chExt cx="969826" cy="406400"/>
          </a:xfrm>
        </p:grpSpPr>
        <p:sp>
          <p:nvSpPr>
            <p:cNvPr name="Freeform 27" id="27"/>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28" id="28"/>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29" id="29"/>
          <p:cNvGrpSpPr/>
          <p:nvPr/>
        </p:nvGrpSpPr>
        <p:grpSpPr>
          <a:xfrm rot="0">
            <a:off x="1856544" y="8506433"/>
            <a:ext cx="3635249" cy="751867"/>
            <a:chOff x="0" y="0"/>
            <a:chExt cx="4846999" cy="1002489"/>
          </a:xfrm>
        </p:grpSpPr>
        <p:grpSp>
          <p:nvGrpSpPr>
            <p:cNvPr name="Group 30" id="30"/>
            <p:cNvGrpSpPr/>
            <p:nvPr/>
          </p:nvGrpSpPr>
          <p:grpSpPr>
            <a:xfrm rot="0">
              <a:off x="0" y="0"/>
              <a:ext cx="4846999" cy="1002489"/>
              <a:chOff x="0" y="0"/>
              <a:chExt cx="1964929" cy="406400"/>
            </a:xfrm>
          </p:grpSpPr>
          <p:sp>
            <p:nvSpPr>
              <p:cNvPr name="Freeform 31" id="31"/>
              <p:cNvSpPr/>
              <p:nvPr/>
            </p:nvSpPr>
            <p:spPr>
              <a:xfrm flipH="false" flipV="false" rot="0">
                <a:off x="0" y="0"/>
                <a:ext cx="1964929" cy="406400"/>
              </a:xfrm>
              <a:custGeom>
                <a:avLst/>
                <a:gdLst/>
                <a:ahLst/>
                <a:cxnLst/>
                <a:rect r="r" b="b" t="t" l="l"/>
                <a:pathLst>
                  <a:path h="406400" w="1964929">
                    <a:moveTo>
                      <a:pt x="1761729" y="0"/>
                    </a:moveTo>
                    <a:cubicBezTo>
                      <a:pt x="1873954" y="0"/>
                      <a:pt x="1964929" y="90976"/>
                      <a:pt x="1964929" y="203200"/>
                    </a:cubicBezTo>
                    <a:cubicBezTo>
                      <a:pt x="1964929" y="315424"/>
                      <a:pt x="1873954" y="406400"/>
                      <a:pt x="176172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32" id="32"/>
              <p:cNvSpPr txBox="true"/>
              <p:nvPr/>
            </p:nvSpPr>
            <p:spPr>
              <a:xfrm>
                <a:off x="0" y="-47625"/>
                <a:ext cx="1964929" cy="454025"/>
              </a:xfrm>
              <a:prstGeom prst="rect">
                <a:avLst/>
              </a:prstGeom>
            </p:spPr>
            <p:txBody>
              <a:bodyPr anchor="ctr" rtlCol="false" tIns="50800" lIns="50800" bIns="50800" rIns="50800"/>
              <a:lstStyle/>
              <a:p>
                <a:pPr algn="ctr">
                  <a:lnSpc>
                    <a:spcPts val="2800"/>
                  </a:lnSpc>
                </a:pPr>
              </a:p>
            </p:txBody>
          </p:sp>
        </p:grpSp>
        <p:sp>
          <p:nvSpPr>
            <p:cNvPr name="AutoShape 33" id="33"/>
            <p:cNvSpPr/>
            <p:nvPr/>
          </p:nvSpPr>
          <p:spPr>
            <a:xfrm>
              <a:off x="3017035" y="501245"/>
              <a:ext cx="1396700" cy="0"/>
            </a:xfrm>
            <a:prstGeom prst="line">
              <a:avLst/>
            </a:prstGeom>
            <a:ln cap="flat" w="25400">
              <a:solidFill>
                <a:srgbClr val="FFFFFF"/>
              </a:solidFill>
              <a:prstDash val="solid"/>
              <a:headEnd type="none" len="sm" w="sm"/>
              <a:tailEnd type="arrow" len="sm" w="med"/>
            </a:ln>
          </p:spPr>
        </p:sp>
        <p:sp>
          <p:nvSpPr>
            <p:cNvPr name="TextBox 34" id="34"/>
            <p:cNvSpPr txBox="true"/>
            <p:nvPr/>
          </p:nvSpPr>
          <p:spPr>
            <a:xfrm rot="0">
              <a:off x="664008" y="252536"/>
              <a:ext cx="2271839" cy="4497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NEXT SLIDE</a:t>
              </a:r>
            </a:p>
          </p:txBody>
        </p:sp>
      </p:grpSp>
      <p:sp>
        <p:nvSpPr>
          <p:cNvPr name="TextBox 35" id="35"/>
          <p:cNvSpPr txBox="true"/>
          <p:nvPr/>
        </p:nvSpPr>
        <p:spPr>
          <a:xfrm rot="0">
            <a:off x="1734968" y="2090501"/>
            <a:ext cx="10689587" cy="742950"/>
          </a:xfrm>
          <a:prstGeom prst="rect">
            <a:avLst/>
          </a:prstGeom>
        </p:spPr>
        <p:txBody>
          <a:bodyPr anchor="t" rtlCol="false" tIns="0" lIns="0" bIns="0" rIns="0">
            <a:spAutoFit/>
          </a:bodyPr>
          <a:lstStyle/>
          <a:p>
            <a:pPr algn="l" marL="0" indent="0" lvl="0">
              <a:lnSpc>
                <a:spcPts val="5700"/>
              </a:lnSpc>
            </a:pPr>
            <a:r>
              <a:rPr lang="en-US" b="true" sz="5000">
                <a:solidFill>
                  <a:srgbClr val="82961B"/>
                </a:solidFill>
                <a:latin typeface="TT Hoves Bold"/>
                <a:ea typeface="TT Hoves Bold"/>
                <a:cs typeface="TT Hoves Bold"/>
                <a:sym typeface="TT Hoves Bold"/>
              </a:rPr>
              <a:t>Apa itu Trans Jatim?</a:t>
            </a:r>
          </a:p>
        </p:txBody>
      </p:sp>
      <p:sp>
        <p:nvSpPr>
          <p:cNvPr name="TextBox 36" id="36"/>
          <p:cNvSpPr txBox="true"/>
          <p:nvPr/>
        </p:nvSpPr>
        <p:spPr>
          <a:xfrm rot="0">
            <a:off x="1734968" y="3665205"/>
            <a:ext cx="7851160" cy="860425"/>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Trans Jatim adalah layanan angkutan massal untuk meningkatkan konektivitas antarwilayah.</a:t>
            </a:r>
          </a:p>
        </p:txBody>
      </p:sp>
      <p:sp>
        <p:nvSpPr>
          <p:cNvPr name="TextBox 37" id="37"/>
          <p:cNvSpPr txBox="true"/>
          <p:nvPr/>
        </p:nvSpPr>
        <p:spPr>
          <a:xfrm rot="0">
            <a:off x="1734968" y="5432739"/>
            <a:ext cx="8027581" cy="42227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TT Hoves"/>
                <a:ea typeface="TT Hoves"/>
                <a:cs typeface="TT Hoves"/>
                <a:sym typeface="TT Hoves"/>
              </a:rPr>
              <a:t>Menggunakan bus low-floor ramah disabilitas.</a:t>
            </a:r>
          </a:p>
        </p:txBody>
      </p:sp>
      <p:sp>
        <p:nvSpPr>
          <p:cNvPr name="TextBox 38" id="38"/>
          <p:cNvSpPr txBox="true"/>
          <p:nvPr/>
        </p:nvSpPr>
        <p:spPr>
          <a:xfrm rot="0">
            <a:off x="1734968" y="7288732"/>
            <a:ext cx="8027581" cy="42227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TT Hoves"/>
                <a:ea typeface="TT Hoves"/>
                <a:cs typeface="TT Hoves"/>
                <a:sym typeface="TT Hoves"/>
              </a:rPr>
              <a:t>Saat ini</a:t>
            </a:r>
            <a:r>
              <a:rPr lang="en-US" sz="2499">
                <a:solidFill>
                  <a:srgbClr val="FFFFFF"/>
                </a:solidFill>
                <a:latin typeface="TT Hoves"/>
                <a:ea typeface="TT Hoves"/>
                <a:cs typeface="TT Hoves"/>
                <a:sym typeface="TT Hoves"/>
              </a:rPr>
              <a:t> Trans Jatim memiliki 8 koridor aktif</a:t>
            </a:r>
          </a:p>
        </p:txBody>
      </p:sp>
      <p:sp>
        <p:nvSpPr>
          <p:cNvPr name="TextBox 39" id="39"/>
          <p:cNvSpPr txBox="true"/>
          <p:nvPr/>
        </p:nvSpPr>
        <p:spPr>
          <a:xfrm rot="0">
            <a:off x="1734968" y="6127750"/>
            <a:ext cx="8027581" cy="86042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TT Hoves"/>
                <a:ea typeface="TT Hoves"/>
                <a:cs typeface="TT Hoves"/>
                <a:sym typeface="TT Hoves"/>
              </a:rPr>
              <a:t>Didirikan untuk mengurangi kemacetan, emisi, dan biaya perjalanan masyarakat.</a:t>
            </a:r>
          </a:p>
        </p:txBody>
      </p:sp>
      <p:sp>
        <p:nvSpPr>
          <p:cNvPr name="TextBox 40" id="40"/>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2</a:t>
            </a:r>
          </a:p>
        </p:txBody>
      </p:sp>
      <p:sp>
        <p:nvSpPr>
          <p:cNvPr name="TextBox 41" id="41"/>
          <p:cNvSpPr txBox="true"/>
          <p:nvPr/>
        </p:nvSpPr>
        <p:spPr>
          <a:xfrm rot="0">
            <a:off x="1734968" y="4758522"/>
            <a:ext cx="8027581" cy="422275"/>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TT Hoves"/>
                <a:ea typeface="TT Hoves"/>
                <a:cs typeface="TT Hoves"/>
                <a:sym typeface="TT Hoves"/>
              </a:rPr>
              <a:t>Berbasis di kawasan Gerbangkertasusila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9272748" y="2028053"/>
            <a:ext cx="8786848" cy="1037082"/>
          </a:xfrm>
          <a:prstGeom prst="rect">
            <a:avLst/>
          </a:prstGeom>
        </p:spPr>
        <p:txBody>
          <a:bodyPr anchor="t" rtlCol="false" tIns="0" lIns="0" bIns="0" rIns="0">
            <a:spAutoFit/>
          </a:bodyPr>
          <a:lstStyle/>
          <a:p>
            <a:pPr algn="l">
              <a:lnSpc>
                <a:spcPts val="4104"/>
              </a:lnSpc>
            </a:pPr>
            <a:r>
              <a:rPr lang="en-US" sz="3600" b="true">
                <a:solidFill>
                  <a:srgbClr val="82961B"/>
                </a:solidFill>
                <a:latin typeface="TT Hoves Bold"/>
                <a:ea typeface="TT Hoves Bold"/>
                <a:cs typeface="TT Hoves Bold"/>
                <a:sym typeface="TT Hoves Bold"/>
              </a:rPr>
              <a:t>Mengapa Malang Bisa Menjadi Koridor Trans Jatim?</a:t>
            </a:r>
          </a:p>
        </p:txBody>
      </p:sp>
      <p:grpSp>
        <p:nvGrpSpPr>
          <p:cNvPr name="Group 7" id="7"/>
          <p:cNvGrpSpPr/>
          <p:nvPr/>
        </p:nvGrpSpPr>
        <p:grpSpPr>
          <a:xfrm rot="0">
            <a:off x="833341" y="2153492"/>
            <a:ext cx="7141368" cy="6485683"/>
            <a:chOff x="0" y="0"/>
            <a:chExt cx="9521824" cy="8647577"/>
          </a:xfrm>
        </p:grpSpPr>
        <p:grpSp>
          <p:nvGrpSpPr>
            <p:cNvPr name="Group 8" id="8"/>
            <p:cNvGrpSpPr/>
            <p:nvPr/>
          </p:nvGrpSpPr>
          <p:grpSpPr>
            <a:xfrm rot="0">
              <a:off x="2739893" y="1392654"/>
              <a:ext cx="6312720" cy="6312720"/>
              <a:chOff x="0" y="0"/>
              <a:chExt cx="1246957" cy="1246957"/>
            </a:xfrm>
          </p:grpSpPr>
          <p:sp>
            <p:nvSpPr>
              <p:cNvPr name="Freeform 9" id="9"/>
              <p:cNvSpPr/>
              <p:nvPr/>
            </p:nvSpPr>
            <p:spPr>
              <a:xfrm flipH="false" flipV="false" rot="0">
                <a:off x="0" y="0"/>
                <a:ext cx="1246957" cy="1246957"/>
              </a:xfrm>
              <a:custGeom>
                <a:avLst/>
                <a:gdLst/>
                <a:ahLst/>
                <a:cxnLst/>
                <a:rect r="r" b="b" t="t" l="l"/>
                <a:pathLst>
                  <a:path h="1246957" w="1246957">
                    <a:moveTo>
                      <a:pt x="83395" y="0"/>
                    </a:moveTo>
                    <a:lnTo>
                      <a:pt x="1163562" y="0"/>
                    </a:lnTo>
                    <a:cubicBezTo>
                      <a:pt x="1185680" y="0"/>
                      <a:pt x="1206892" y="8786"/>
                      <a:pt x="1222531" y="24426"/>
                    </a:cubicBezTo>
                    <a:cubicBezTo>
                      <a:pt x="1238171" y="40066"/>
                      <a:pt x="1246957" y="61277"/>
                      <a:pt x="1246957" y="83395"/>
                    </a:cubicBezTo>
                    <a:lnTo>
                      <a:pt x="1246957" y="1163562"/>
                    </a:lnTo>
                    <a:cubicBezTo>
                      <a:pt x="1246957" y="1185680"/>
                      <a:pt x="1238171" y="1206892"/>
                      <a:pt x="1222531" y="1222531"/>
                    </a:cubicBezTo>
                    <a:cubicBezTo>
                      <a:pt x="1206892" y="1238171"/>
                      <a:pt x="1185680" y="1246957"/>
                      <a:pt x="1163562" y="1246957"/>
                    </a:cubicBezTo>
                    <a:lnTo>
                      <a:pt x="83395" y="1246957"/>
                    </a:lnTo>
                    <a:cubicBezTo>
                      <a:pt x="61277" y="1246957"/>
                      <a:pt x="40066" y="1238171"/>
                      <a:pt x="24426" y="1222531"/>
                    </a:cubicBezTo>
                    <a:cubicBezTo>
                      <a:pt x="8786" y="1206892"/>
                      <a:pt x="0" y="1185680"/>
                      <a:pt x="0" y="1163562"/>
                    </a:cubicBezTo>
                    <a:lnTo>
                      <a:pt x="0" y="83395"/>
                    </a:lnTo>
                    <a:cubicBezTo>
                      <a:pt x="0" y="61277"/>
                      <a:pt x="8786" y="40066"/>
                      <a:pt x="24426" y="24426"/>
                    </a:cubicBezTo>
                    <a:cubicBezTo>
                      <a:pt x="40066" y="8786"/>
                      <a:pt x="61277" y="0"/>
                      <a:pt x="83395" y="0"/>
                    </a:cubicBezTo>
                    <a:close/>
                  </a:path>
                </a:pathLst>
              </a:custGeom>
              <a:gradFill rotWithShape="true">
                <a:gsLst>
                  <a:gs pos="0">
                    <a:srgbClr val="596615">
                      <a:alpha val="100000"/>
                    </a:srgbClr>
                  </a:gs>
                  <a:gs pos="100000">
                    <a:srgbClr val="7E9218">
                      <a:alpha val="100000"/>
                    </a:srgbClr>
                  </a:gs>
                </a:gsLst>
                <a:lin ang="0"/>
              </a:gradFill>
            </p:spPr>
          </p:sp>
          <p:sp>
            <p:nvSpPr>
              <p:cNvPr name="TextBox 10" id="10"/>
              <p:cNvSpPr txBox="true"/>
              <p:nvPr/>
            </p:nvSpPr>
            <p:spPr>
              <a:xfrm>
                <a:off x="0" y="-47625"/>
                <a:ext cx="1246957" cy="12945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495142" y="0"/>
              <a:ext cx="6989592" cy="5951975"/>
              <a:chOff x="0" y="0"/>
              <a:chExt cx="954497" cy="812800"/>
            </a:xfrm>
          </p:grpSpPr>
          <p:sp>
            <p:nvSpPr>
              <p:cNvPr name="Freeform 12" id="12"/>
              <p:cNvSpPr/>
              <p:nvPr/>
            </p:nvSpPr>
            <p:spPr>
              <a:xfrm flipH="false" flipV="false" rot="0">
                <a:off x="0" y="0"/>
                <a:ext cx="954497" cy="812800"/>
              </a:xfrm>
              <a:custGeom>
                <a:avLst/>
                <a:gdLst/>
                <a:ahLst/>
                <a:cxnLst/>
                <a:rect r="r" b="b" t="t" l="l"/>
                <a:pathLst>
                  <a:path h="812800" w="954497">
                    <a:moveTo>
                      <a:pt x="60551" y="0"/>
                    </a:moveTo>
                    <a:lnTo>
                      <a:pt x="893946" y="0"/>
                    </a:lnTo>
                    <a:cubicBezTo>
                      <a:pt x="910005" y="0"/>
                      <a:pt x="925406" y="6379"/>
                      <a:pt x="936762" y="17735"/>
                    </a:cubicBezTo>
                    <a:cubicBezTo>
                      <a:pt x="948117" y="29090"/>
                      <a:pt x="954497" y="44492"/>
                      <a:pt x="954497" y="60551"/>
                    </a:cubicBezTo>
                    <a:lnTo>
                      <a:pt x="954497" y="752249"/>
                    </a:lnTo>
                    <a:cubicBezTo>
                      <a:pt x="954497" y="768308"/>
                      <a:pt x="948117" y="783710"/>
                      <a:pt x="936762" y="795065"/>
                    </a:cubicBezTo>
                    <a:cubicBezTo>
                      <a:pt x="925406" y="806421"/>
                      <a:pt x="910005" y="812800"/>
                      <a:pt x="893946" y="812800"/>
                    </a:cubicBezTo>
                    <a:lnTo>
                      <a:pt x="60551" y="812800"/>
                    </a:lnTo>
                    <a:cubicBezTo>
                      <a:pt x="44492" y="812800"/>
                      <a:pt x="29090" y="806421"/>
                      <a:pt x="17735" y="795065"/>
                    </a:cubicBezTo>
                    <a:cubicBezTo>
                      <a:pt x="6379" y="783710"/>
                      <a:pt x="0" y="768308"/>
                      <a:pt x="0" y="752249"/>
                    </a:cubicBezTo>
                    <a:lnTo>
                      <a:pt x="0" y="60551"/>
                    </a:lnTo>
                    <a:cubicBezTo>
                      <a:pt x="0" y="44492"/>
                      <a:pt x="6379" y="29090"/>
                      <a:pt x="17735" y="17735"/>
                    </a:cubicBezTo>
                    <a:cubicBezTo>
                      <a:pt x="29090" y="6379"/>
                      <a:pt x="44492" y="0"/>
                      <a:pt x="60551" y="0"/>
                    </a:cubicBezTo>
                    <a:close/>
                  </a:path>
                </a:pathLst>
              </a:custGeom>
              <a:blipFill>
                <a:blip r:embed="rId3"/>
                <a:stretch>
                  <a:fillRect l="-24510" t="0" r="-24510" b="0"/>
                </a:stretch>
              </a:blipFill>
            </p:spPr>
          </p:sp>
        </p:grpSp>
        <p:grpSp>
          <p:nvGrpSpPr>
            <p:cNvPr name="Group 13" id="13"/>
            <p:cNvGrpSpPr/>
            <p:nvPr/>
          </p:nvGrpSpPr>
          <p:grpSpPr>
            <a:xfrm rot="0">
              <a:off x="0" y="5155662"/>
              <a:ext cx="3204569" cy="1256019"/>
              <a:chOff x="0" y="0"/>
              <a:chExt cx="713569" cy="279681"/>
            </a:xfrm>
          </p:grpSpPr>
          <p:sp>
            <p:nvSpPr>
              <p:cNvPr name="Freeform 14" id="14"/>
              <p:cNvSpPr/>
              <p:nvPr/>
            </p:nvSpPr>
            <p:spPr>
              <a:xfrm flipH="false" flipV="false" rot="0">
                <a:off x="0" y="0"/>
                <a:ext cx="713569" cy="279681"/>
              </a:xfrm>
              <a:custGeom>
                <a:avLst/>
                <a:gdLst/>
                <a:ahLst/>
                <a:cxnLst/>
                <a:rect r="r" b="b" t="t" l="l"/>
                <a:pathLst>
                  <a:path h="279681" w="713569">
                    <a:moveTo>
                      <a:pt x="112742" y="0"/>
                    </a:moveTo>
                    <a:lnTo>
                      <a:pt x="600827" y="0"/>
                    </a:lnTo>
                    <a:cubicBezTo>
                      <a:pt x="663093" y="0"/>
                      <a:pt x="713569" y="50476"/>
                      <a:pt x="713569" y="112742"/>
                    </a:cubicBezTo>
                    <a:lnTo>
                      <a:pt x="713569" y="166939"/>
                    </a:lnTo>
                    <a:cubicBezTo>
                      <a:pt x="713569" y="229205"/>
                      <a:pt x="663093" y="279681"/>
                      <a:pt x="600827" y="279681"/>
                    </a:cubicBezTo>
                    <a:lnTo>
                      <a:pt x="112742" y="279681"/>
                    </a:lnTo>
                    <a:cubicBezTo>
                      <a:pt x="50476" y="279681"/>
                      <a:pt x="0" y="229205"/>
                      <a:pt x="0" y="166939"/>
                    </a:cubicBezTo>
                    <a:lnTo>
                      <a:pt x="0" y="112742"/>
                    </a:lnTo>
                    <a:cubicBezTo>
                      <a:pt x="0" y="50476"/>
                      <a:pt x="50476" y="0"/>
                      <a:pt x="112742" y="0"/>
                    </a:cubicBezTo>
                    <a:close/>
                  </a:path>
                </a:pathLst>
              </a:custGeom>
              <a:gradFill rotWithShape="true">
                <a:gsLst>
                  <a:gs pos="0">
                    <a:srgbClr val="596615">
                      <a:alpha val="100000"/>
                    </a:srgbClr>
                  </a:gs>
                  <a:gs pos="100000">
                    <a:srgbClr val="596614">
                      <a:alpha val="0"/>
                    </a:srgbClr>
                  </a:gs>
                </a:gsLst>
                <a:lin ang="0"/>
              </a:gradFill>
            </p:spPr>
          </p:sp>
          <p:sp>
            <p:nvSpPr>
              <p:cNvPr name="TextBox 15" id="15"/>
              <p:cNvSpPr txBox="true"/>
              <p:nvPr/>
            </p:nvSpPr>
            <p:spPr>
              <a:xfrm>
                <a:off x="0" y="-47625"/>
                <a:ext cx="713569" cy="327306"/>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4601569" y="3727322"/>
              <a:ext cx="4920255" cy="492025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86017" y="0"/>
                    </a:moveTo>
                    <a:lnTo>
                      <a:pt x="726783" y="0"/>
                    </a:lnTo>
                    <a:cubicBezTo>
                      <a:pt x="774289" y="0"/>
                      <a:pt x="812800" y="38511"/>
                      <a:pt x="812800" y="86017"/>
                    </a:cubicBezTo>
                    <a:lnTo>
                      <a:pt x="812800" y="726783"/>
                    </a:lnTo>
                    <a:cubicBezTo>
                      <a:pt x="812800" y="774289"/>
                      <a:pt x="774289" y="812800"/>
                      <a:pt x="726783" y="812800"/>
                    </a:cubicBezTo>
                    <a:lnTo>
                      <a:pt x="86017" y="812800"/>
                    </a:lnTo>
                    <a:cubicBezTo>
                      <a:pt x="38511" y="812800"/>
                      <a:pt x="0" y="774289"/>
                      <a:pt x="0" y="726783"/>
                    </a:cubicBezTo>
                    <a:lnTo>
                      <a:pt x="0" y="86017"/>
                    </a:lnTo>
                    <a:cubicBezTo>
                      <a:pt x="0" y="38511"/>
                      <a:pt x="38511" y="0"/>
                      <a:pt x="86017" y="0"/>
                    </a:cubicBezTo>
                    <a:close/>
                  </a:path>
                </a:pathLst>
              </a:custGeom>
              <a:blipFill>
                <a:blip r:embed="rId4"/>
                <a:stretch>
                  <a:fillRect l="-42024" t="0" r="-42024" b="0"/>
                </a:stretch>
              </a:blipFill>
            </p:spPr>
          </p:sp>
        </p:grpSp>
      </p:grpSp>
      <p:grpSp>
        <p:nvGrpSpPr>
          <p:cNvPr name="Group 18" id="18"/>
          <p:cNvGrpSpPr/>
          <p:nvPr/>
        </p:nvGrpSpPr>
        <p:grpSpPr>
          <a:xfrm rot="5400000">
            <a:off x="6812893" y="5248110"/>
            <a:ext cx="2366590" cy="1061914"/>
            <a:chOff x="0" y="0"/>
            <a:chExt cx="623299" cy="279681"/>
          </a:xfrm>
        </p:grpSpPr>
        <p:sp>
          <p:nvSpPr>
            <p:cNvPr name="Freeform 19" id="19"/>
            <p:cNvSpPr/>
            <p:nvPr/>
          </p:nvSpPr>
          <p:spPr>
            <a:xfrm flipH="false" flipV="false" rot="0">
              <a:off x="0" y="0"/>
              <a:ext cx="623299" cy="279681"/>
            </a:xfrm>
            <a:custGeom>
              <a:avLst/>
              <a:gdLst/>
              <a:ahLst/>
              <a:cxnLst/>
              <a:rect r="r" b="b" t="t" l="l"/>
              <a:pathLst>
                <a:path h="279681" w="623299">
                  <a:moveTo>
                    <a:pt x="114497" y="0"/>
                  </a:moveTo>
                  <a:lnTo>
                    <a:pt x="508802" y="0"/>
                  </a:lnTo>
                  <a:cubicBezTo>
                    <a:pt x="539169" y="0"/>
                    <a:pt x="568292" y="12063"/>
                    <a:pt x="589764" y="33535"/>
                  </a:cubicBezTo>
                  <a:cubicBezTo>
                    <a:pt x="611236" y="55008"/>
                    <a:pt x="623299" y="84130"/>
                    <a:pt x="623299" y="114497"/>
                  </a:cubicBezTo>
                  <a:lnTo>
                    <a:pt x="623299" y="165184"/>
                  </a:lnTo>
                  <a:cubicBezTo>
                    <a:pt x="623299" y="195551"/>
                    <a:pt x="611236" y="224673"/>
                    <a:pt x="589764" y="246146"/>
                  </a:cubicBezTo>
                  <a:cubicBezTo>
                    <a:pt x="568292" y="267618"/>
                    <a:pt x="539169" y="279681"/>
                    <a:pt x="508802" y="279681"/>
                  </a:cubicBezTo>
                  <a:lnTo>
                    <a:pt x="114497" y="279681"/>
                  </a:lnTo>
                  <a:cubicBezTo>
                    <a:pt x="84130" y="279681"/>
                    <a:pt x="55008" y="267618"/>
                    <a:pt x="33535" y="246146"/>
                  </a:cubicBezTo>
                  <a:cubicBezTo>
                    <a:pt x="12063" y="224673"/>
                    <a:pt x="0" y="195551"/>
                    <a:pt x="0" y="165184"/>
                  </a:cubicBezTo>
                  <a:lnTo>
                    <a:pt x="0" y="114497"/>
                  </a:lnTo>
                  <a:cubicBezTo>
                    <a:pt x="0" y="84130"/>
                    <a:pt x="12063" y="55008"/>
                    <a:pt x="33535" y="33535"/>
                  </a:cubicBezTo>
                  <a:cubicBezTo>
                    <a:pt x="55008" y="12063"/>
                    <a:pt x="84130" y="0"/>
                    <a:pt x="114497" y="0"/>
                  </a:cubicBezTo>
                  <a:close/>
                </a:path>
              </a:pathLst>
            </a:custGeom>
            <a:gradFill rotWithShape="true">
              <a:gsLst>
                <a:gs pos="0">
                  <a:srgbClr val="596615">
                    <a:alpha val="100000"/>
                  </a:srgbClr>
                </a:gs>
                <a:gs pos="100000">
                  <a:srgbClr val="596614">
                    <a:alpha val="0"/>
                  </a:srgbClr>
                </a:gs>
              </a:gsLst>
              <a:lin ang="0"/>
            </a:gradFill>
          </p:spPr>
        </p:sp>
        <p:sp>
          <p:nvSpPr>
            <p:cNvPr name="TextBox 20" id="20"/>
            <p:cNvSpPr txBox="true"/>
            <p:nvPr/>
          </p:nvSpPr>
          <p:spPr>
            <a:xfrm>
              <a:off x="0" y="-47625"/>
              <a:ext cx="623299" cy="327306"/>
            </a:xfrm>
            <a:prstGeom prst="rect">
              <a:avLst/>
            </a:prstGeom>
          </p:spPr>
          <p:txBody>
            <a:bodyPr anchor="ctr" rtlCol="false" tIns="50800" lIns="50800" bIns="50800" rIns="50800"/>
            <a:lstStyle/>
            <a:p>
              <a:pPr algn="ctr">
                <a:lnSpc>
                  <a:spcPts val="2800"/>
                </a:lnSpc>
              </a:pPr>
            </a:p>
          </p:txBody>
        </p:sp>
      </p:grpSp>
      <p:grpSp>
        <p:nvGrpSpPr>
          <p:cNvPr name="Group 21" id="21"/>
          <p:cNvGrpSpPr/>
          <p:nvPr/>
        </p:nvGrpSpPr>
        <p:grpSpPr>
          <a:xfrm rot="0">
            <a:off x="464734" y="603722"/>
            <a:ext cx="17358533" cy="849956"/>
            <a:chOff x="0" y="0"/>
            <a:chExt cx="23144711" cy="1133274"/>
          </a:xfrm>
        </p:grpSpPr>
        <p:grpSp>
          <p:nvGrpSpPr>
            <p:cNvPr name="Group 22" id="22"/>
            <p:cNvGrpSpPr/>
            <p:nvPr/>
          </p:nvGrpSpPr>
          <p:grpSpPr>
            <a:xfrm rot="0">
              <a:off x="0" y="0"/>
              <a:ext cx="23144711" cy="1133274"/>
              <a:chOff x="0" y="0"/>
              <a:chExt cx="4571795" cy="223857"/>
            </a:xfrm>
          </p:grpSpPr>
          <p:sp>
            <p:nvSpPr>
              <p:cNvPr name="Freeform 23" id="23"/>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24" id="24"/>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6" id="26"/>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27" id="27"/>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grpSp>
        <p:nvGrpSpPr>
          <p:cNvPr name="Group 28" id="28"/>
          <p:cNvGrpSpPr/>
          <p:nvPr/>
        </p:nvGrpSpPr>
        <p:grpSpPr>
          <a:xfrm rot="0">
            <a:off x="9800614" y="3550910"/>
            <a:ext cx="7731115" cy="4648200"/>
            <a:chOff x="0" y="0"/>
            <a:chExt cx="10308153" cy="6197600"/>
          </a:xfrm>
        </p:grpSpPr>
        <p:sp>
          <p:nvSpPr>
            <p:cNvPr name="TextBox 29" id="29"/>
            <p:cNvSpPr txBox="true"/>
            <p:nvPr/>
          </p:nvSpPr>
          <p:spPr>
            <a:xfrm rot="0">
              <a:off x="0" y="-66675"/>
              <a:ext cx="10282753" cy="1387475"/>
            </a:xfrm>
            <a:prstGeom prst="rect">
              <a:avLst/>
            </a:prstGeom>
          </p:spPr>
          <p:txBody>
            <a:bodyPr anchor="t" rtlCol="false" tIns="0" lIns="0" bIns="0" rIns="0">
              <a:spAutoFit/>
            </a:bodyPr>
            <a:lstStyle/>
            <a:p>
              <a:pPr algn="just" marL="0" indent="0" lvl="0">
                <a:lnSpc>
                  <a:spcPts val="4200"/>
                </a:lnSpc>
                <a:spcBef>
                  <a:spcPct val="0"/>
                </a:spcBef>
              </a:pPr>
              <a:r>
                <a:rPr lang="en-US" sz="3000">
                  <a:solidFill>
                    <a:srgbClr val="FFFFFF"/>
                  </a:solidFill>
                  <a:latin typeface="TT Hoves"/>
                  <a:ea typeface="TT Hoves"/>
                  <a:cs typeface="TT Hoves"/>
                  <a:sym typeface="TT Hoves"/>
                </a:rPr>
                <a:t>Per 20 November 2024 ditambahkan koridor layanan baru untuk wilayah Malang Raya.</a:t>
              </a:r>
            </a:p>
          </p:txBody>
        </p:sp>
        <p:sp>
          <p:nvSpPr>
            <p:cNvPr name="TextBox 30" id="30"/>
            <p:cNvSpPr txBox="true"/>
            <p:nvPr/>
          </p:nvSpPr>
          <p:spPr>
            <a:xfrm rot="0">
              <a:off x="12700" y="1558925"/>
              <a:ext cx="10282753" cy="1387475"/>
            </a:xfrm>
            <a:prstGeom prst="rect">
              <a:avLst/>
            </a:prstGeom>
          </p:spPr>
          <p:txBody>
            <a:bodyPr anchor="t" rtlCol="false" tIns="0" lIns="0" bIns="0" rIns="0">
              <a:spAutoFit/>
            </a:bodyPr>
            <a:lstStyle/>
            <a:p>
              <a:pPr algn="just" marL="0" indent="0" lvl="0">
                <a:lnSpc>
                  <a:spcPts val="4200"/>
                </a:lnSpc>
                <a:spcBef>
                  <a:spcPct val="0"/>
                </a:spcBef>
              </a:pPr>
              <a:r>
                <a:rPr lang="en-US" sz="3000">
                  <a:solidFill>
                    <a:srgbClr val="FFFFFF"/>
                  </a:solidFill>
                  <a:latin typeface="TT Hoves"/>
                  <a:ea typeface="TT Hoves"/>
                  <a:cs typeface="TT Hoves"/>
                  <a:sym typeface="TT Hoves"/>
                </a:rPr>
                <a:t>Malang Raya di luar GKS, namun Koridor 1 dibuka pada 2024 karena permintaan besar.</a:t>
              </a:r>
            </a:p>
          </p:txBody>
        </p:sp>
        <p:sp>
          <p:nvSpPr>
            <p:cNvPr name="TextBox 31" id="31"/>
            <p:cNvSpPr txBox="true"/>
            <p:nvPr/>
          </p:nvSpPr>
          <p:spPr>
            <a:xfrm rot="0">
              <a:off x="25400" y="3184525"/>
              <a:ext cx="10282753" cy="1387475"/>
            </a:xfrm>
            <a:prstGeom prst="rect">
              <a:avLst/>
            </a:prstGeom>
          </p:spPr>
          <p:txBody>
            <a:bodyPr anchor="t" rtlCol="false" tIns="0" lIns="0" bIns="0" rIns="0">
              <a:spAutoFit/>
            </a:bodyPr>
            <a:lstStyle/>
            <a:p>
              <a:pPr algn="just" marL="0" indent="0" lvl="0">
                <a:lnSpc>
                  <a:spcPts val="4200"/>
                </a:lnSpc>
                <a:spcBef>
                  <a:spcPct val="0"/>
                </a:spcBef>
              </a:pPr>
              <a:r>
                <a:rPr lang="en-US" sz="3000">
                  <a:solidFill>
                    <a:srgbClr val="FFFFFF"/>
                  </a:solidFill>
                  <a:latin typeface="TT Hoves"/>
                  <a:ea typeface="TT Hoves"/>
                  <a:cs typeface="TT Hoves"/>
                  <a:sym typeface="TT Hoves"/>
                </a:rPr>
                <a:t>Ekspansi Trans Jatim kini tidak terbatas GKS, tetapi berbasis kebutuhan wilayah.</a:t>
              </a:r>
            </a:p>
          </p:txBody>
        </p:sp>
        <p:sp>
          <p:nvSpPr>
            <p:cNvPr name="TextBox 32" id="32"/>
            <p:cNvSpPr txBox="true"/>
            <p:nvPr/>
          </p:nvSpPr>
          <p:spPr>
            <a:xfrm rot="0">
              <a:off x="25400" y="4810125"/>
              <a:ext cx="10282753" cy="1387475"/>
            </a:xfrm>
            <a:prstGeom prst="rect">
              <a:avLst/>
            </a:prstGeom>
          </p:spPr>
          <p:txBody>
            <a:bodyPr anchor="t" rtlCol="false" tIns="0" lIns="0" bIns="0" rIns="0">
              <a:spAutoFit/>
            </a:bodyPr>
            <a:lstStyle/>
            <a:p>
              <a:pPr algn="just" marL="0" indent="0" lvl="0">
                <a:lnSpc>
                  <a:spcPts val="4200"/>
                </a:lnSpc>
                <a:spcBef>
                  <a:spcPct val="0"/>
                </a:spcBef>
              </a:pPr>
              <a:r>
                <a:rPr lang="en-US" sz="3000">
                  <a:solidFill>
                    <a:srgbClr val="FFFFFF"/>
                  </a:solidFill>
                  <a:latin typeface="TT Hoves"/>
                  <a:ea typeface="TT Hoves"/>
                  <a:cs typeface="TT Hoves"/>
                  <a:sym typeface="TT Hoves"/>
                </a:rPr>
                <a:t>Wilayah lain seperti Mojokerto–Jombang berpotensi menjadi koridor baru.</a:t>
              </a:r>
            </a:p>
          </p:txBody>
        </p:sp>
      </p:grpSp>
      <p:grpSp>
        <p:nvGrpSpPr>
          <p:cNvPr name="Group 33" id="33"/>
          <p:cNvGrpSpPr/>
          <p:nvPr/>
        </p:nvGrpSpPr>
        <p:grpSpPr>
          <a:xfrm rot="0">
            <a:off x="15465057" y="8882367"/>
            <a:ext cx="1794243" cy="751867"/>
            <a:chOff x="0" y="0"/>
            <a:chExt cx="969826" cy="406400"/>
          </a:xfrm>
        </p:grpSpPr>
        <p:sp>
          <p:nvSpPr>
            <p:cNvPr name="Freeform 34" id="34"/>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35" id="35"/>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sp>
        <p:nvSpPr>
          <p:cNvPr name="TextBox 36" id="36"/>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15465057" y="8882367"/>
            <a:ext cx="1794243" cy="751867"/>
            <a:chOff x="0" y="0"/>
            <a:chExt cx="969826" cy="406400"/>
          </a:xfrm>
        </p:grpSpPr>
        <p:sp>
          <p:nvSpPr>
            <p:cNvPr name="Freeform 7" id="7"/>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8" id="8"/>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0">
            <a:off x="9565496" y="1925181"/>
            <a:ext cx="7693804" cy="6485683"/>
            <a:chOff x="0" y="0"/>
            <a:chExt cx="10258406" cy="8647577"/>
          </a:xfrm>
        </p:grpSpPr>
        <p:grpSp>
          <p:nvGrpSpPr>
            <p:cNvPr name="Group 10" id="10"/>
            <p:cNvGrpSpPr/>
            <p:nvPr/>
          </p:nvGrpSpPr>
          <p:grpSpPr>
            <a:xfrm rot="0">
              <a:off x="2739893" y="1392654"/>
              <a:ext cx="6312720" cy="6312720"/>
              <a:chOff x="0" y="0"/>
              <a:chExt cx="1246957" cy="1246957"/>
            </a:xfrm>
          </p:grpSpPr>
          <p:sp>
            <p:nvSpPr>
              <p:cNvPr name="Freeform 11" id="11"/>
              <p:cNvSpPr/>
              <p:nvPr/>
            </p:nvSpPr>
            <p:spPr>
              <a:xfrm flipH="false" flipV="false" rot="0">
                <a:off x="0" y="0"/>
                <a:ext cx="1246957" cy="1246957"/>
              </a:xfrm>
              <a:custGeom>
                <a:avLst/>
                <a:gdLst/>
                <a:ahLst/>
                <a:cxnLst/>
                <a:rect r="r" b="b" t="t" l="l"/>
                <a:pathLst>
                  <a:path h="1246957" w="1246957">
                    <a:moveTo>
                      <a:pt x="83395" y="0"/>
                    </a:moveTo>
                    <a:lnTo>
                      <a:pt x="1163562" y="0"/>
                    </a:lnTo>
                    <a:cubicBezTo>
                      <a:pt x="1185680" y="0"/>
                      <a:pt x="1206892" y="8786"/>
                      <a:pt x="1222531" y="24426"/>
                    </a:cubicBezTo>
                    <a:cubicBezTo>
                      <a:pt x="1238171" y="40066"/>
                      <a:pt x="1246957" y="61277"/>
                      <a:pt x="1246957" y="83395"/>
                    </a:cubicBezTo>
                    <a:lnTo>
                      <a:pt x="1246957" y="1163562"/>
                    </a:lnTo>
                    <a:cubicBezTo>
                      <a:pt x="1246957" y="1185680"/>
                      <a:pt x="1238171" y="1206892"/>
                      <a:pt x="1222531" y="1222531"/>
                    </a:cubicBezTo>
                    <a:cubicBezTo>
                      <a:pt x="1206892" y="1238171"/>
                      <a:pt x="1185680" y="1246957"/>
                      <a:pt x="1163562" y="1246957"/>
                    </a:cubicBezTo>
                    <a:lnTo>
                      <a:pt x="83395" y="1246957"/>
                    </a:lnTo>
                    <a:cubicBezTo>
                      <a:pt x="61277" y="1246957"/>
                      <a:pt x="40066" y="1238171"/>
                      <a:pt x="24426" y="1222531"/>
                    </a:cubicBezTo>
                    <a:cubicBezTo>
                      <a:pt x="8786" y="1206892"/>
                      <a:pt x="0" y="1185680"/>
                      <a:pt x="0" y="1163562"/>
                    </a:cubicBezTo>
                    <a:lnTo>
                      <a:pt x="0" y="83395"/>
                    </a:lnTo>
                    <a:cubicBezTo>
                      <a:pt x="0" y="61277"/>
                      <a:pt x="8786" y="40066"/>
                      <a:pt x="24426" y="24426"/>
                    </a:cubicBezTo>
                    <a:cubicBezTo>
                      <a:pt x="40066" y="8786"/>
                      <a:pt x="61277" y="0"/>
                      <a:pt x="83395" y="0"/>
                    </a:cubicBezTo>
                    <a:close/>
                  </a:path>
                </a:pathLst>
              </a:custGeom>
              <a:gradFill rotWithShape="true">
                <a:gsLst>
                  <a:gs pos="0">
                    <a:srgbClr val="596615">
                      <a:alpha val="100000"/>
                    </a:srgbClr>
                  </a:gs>
                  <a:gs pos="100000">
                    <a:srgbClr val="7E9218">
                      <a:alpha val="100000"/>
                    </a:srgbClr>
                  </a:gs>
                </a:gsLst>
                <a:lin ang="0"/>
              </a:gradFill>
            </p:spPr>
          </p:sp>
          <p:sp>
            <p:nvSpPr>
              <p:cNvPr name="TextBox 12" id="12"/>
              <p:cNvSpPr txBox="true"/>
              <p:nvPr/>
            </p:nvSpPr>
            <p:spPr>
              <a:xfrm>
                <a:off x="0" y="-47625"/>
                <a:ext cx="1246957" cy="1294582"/>
              </a:xfrm>
              <a:prstGeom prst="rect">
                <a:avLst/>
              </a:prstGeom>
            </p:spPr>
            <p:txBody>
              <a:bodyPr anchor="ctr" rtlCol="false" tIns="50800" lIns="50800" bIns="50800" rIns="50800"/>
              <a:lstStyle/>
              <a:p>
                <a:pPr algn="ctr">
                  <a:lnSpc>
                    <a:spcPts val="2800"/>
                  </a:lnSpc>
                </a:pPr>
              </a:p>
            </p:txBody>
          </p:sp>
        </p:grpSp>
        <p:grpSp>
          <p:nvGrpSpPr>
            <p:cNvPr name="Group 13" id="13"/>
            <p:cNvGrpSpPr/>
            <p:nvPr/>
          </p:nvGrpSpPr>
          <p:grpSpPr>
            <a:xfrm rot="0">
              <a:off x="495142" y="0"/>
              <a:ext cx="6989592" cy="5951975"/>
              <a:chOff x="0" y="0"/>
              <a:chExt cx="954497" cy="812800"/>
            </a:xfrm>
          </p:grpSpPr>
          <p:sp>
            <p:nvSpPr>
              <p:cNvPr name="Freeform 14" id="14"/>
              <p:cNvSpPr/>
              <p:nvPr/>
            </p:nvSpPr>
            <p:spPr>
              <a:xfrm flipH="false" flipV="false" rot="0">
                <a:off x="0" y="0"/>
                <a:ext cx="954497" cy="812800"/>
              </a:xfrm>
              <a:custGeom>
                <a:avLst/>
                <a:gdLst/>
                <a:ahLst/>
                <a:cxnLst/>
                <a:rect r="r" b="b" t="t" l="l"/>
                <a:pathLst>
                  <a:path h="812800" w="954497">
                    <a:moveTo>
                      <a:pt x="60551" y="0"/>
                    </a:moveTo>
                    <a:lnTo>
                      <a:pt x="893946" y="0"/>
                    </a:lnTo>
                    <a:cubicBezTo>
                      <a:pt x="910005" y="0"/>
                      <a:pt x="925406" y="6379"/>
                      <a:pt x="936762" y="17735"/>
                    </a:cubicBezTo>
                    <a:cubicBezTo>
                      <a:pt x="948117" y="29090"/>
                      <a:pt x="954497" y="44492"/>
                      <a:pt x="954497" y="60551"/>
                    </a:cubicBezTo>
                    <a:lnTo>
                      <a:pt x="954497" y="752249"/>
                    </a:lnTo>
                    <a:cubicBezTo>
                      <a:pt x="954497" y="768308"/>
                      <a:pt x="948117" y="783710"/>
                      <a:pt x="936762" y="795065"/>
                    </a:cubicBezTo>
                    <a:cubicBezTo>
                      <a:pt x="925406" y="806421"/>
                      <a:pt x="910005" y="812800"/>
                      <a:pt x="893946" y="812800"/>
                    </a:cubicBezTo>
                    <a:lnTo>
                      <a:pt x="60551" y="812800"/>
                    </a:lnTo>
                    <a:cubicBezTo>
                      <a:pt x="44492" y="812800"/>
                      <a:pt x="29090" y="806421"/>
                      <a:pt x="17735" y="795065"/>
                    </a:cubicBezTo>
                    <a:cubicBezTo>
                      <a:pt x="6379" y="783710"/>
                      <a:pt x="0" y="768308"/>
                      <a:pt x="0" y="752249"/>
                    </a:cubicBezTo>
                    <a:lnTo>
                      <a:pt x="0" y="60551"/>
                    </a:lnTo>
                    <a:cubicBezTo>
                      <a:pt x="0" y="44492"/>
                      <a:pt x="6379" y="29090"/>
                      <a:pt x="17735" y="17735"/>
                    </a:cubicBezTo>
                    <a:cubicBezTo>
                      <a:pt x="29090" y="6379"/>
                      <a:pt x="44492" y="0"/>
                      <a:pt x="60551" y="0"/>
                    </a:cubicBezTo>
                    <a:close/>
                  </a:path>
                </a:pathLst>
              </a:custGeom>
              <a:blipFill>
                <a:blip r:embed="rId3"/>
                <a:stretch>
                  <a:fillRect l="-11097" t="0" r="-11097" b="0"/>
                </a:stretch>
              </a:blipFill>
            </p:spPr>
          </p:sp>
        </p:grpSp>
        <p:grpSp>
          <p:nvGrpSpPr>
            <p:cNvPr name="Group 15" id="15"/>
            <p:cNvGrpSpPr/>
            <p:nvPr/>
          </p:nvGrpSpPr>
          <p:grpSpPr>
            <a:xfrm rot="0">
              <a:off x="0" y="5155662"/>
              <a:ext cx="3204569" cy="1256019"/>
              <a:chOff x="0" y="0"/>
              <a:chExt cx="713569" cy="279681"/>
            </a:xfrm>
          </p:grpSpPr>
          <p:sp>
            <p:nvSpPr>
              <p:cNvPr name="Freeform 16" id="16"/>
              <p:cNvSpPr/>
              <p:nvPr/>
            </p:nvSpPr>
            <p:spPr>
              <a:xfrm flipH="false" flipV="false" rot="0">
                <a:off x="0" y="0"/>
                <a:ext cx="713569" cy="279681"/>
              </a:xfrm>
              <a:custGeom>
                <a:avLst/>
                <a:gdLst/>
                <a:ahLst/>
                <a:cxnLst/>
                <a:rect r="r" b="b" t="t" l="l"/>
                <a:pathLst>
                  <a:path h="279681" w="713569">
                    <a:moveTo>
                      <a:pt x="112742" y="0"/>
                    </a:moveTo>
                    <a:lnTo>
                      <a:pt x="600827" y="0"/>
                    </a:lnTo>
                    <a:cubicBezTo>
                      <a:pt x="663093" y="0"/>
                      <a:pt x="713569" y="50476"/>
                      <a:pt x="713569" y="112742"/>
                    </a:cubicBezTo>
                    <a:lnTo>
                      <a:pt x="713569" y="166939"/>
                    </a:lnTo>
                    <a:cubicBezTo>
                      <a:pt x="713569" y="229205"/>
                      <a:pt x="663093" y="279681"/>
                      <a:pt x="600827" y="279681"/>
                    </a:cubicBezTo>
                    <a:lnTo>
                      <a:pt x="112742" y="279681"/>
                    </a:lnTo>
                    <a:cubicBezTo>
                      <a:pt x="50476" y="279681"/>
                      <a:pt x="0" y="229205"/>
                      <a:pt x="0" y="166939"/>
                    </a:cubicBezTo>
                    <a:lnTo>
                      <a:pt x="0" y="112742"/>
                    </a:lnTo>
                    <a:cubicBezTo>
                      <a:pt x="0" y="50476"/>
                      <a:pt x="50476" y="0"/>
                      <a:pt x="112742" y="0"/>
                    </a:cubicBezTo>
                    <a:close/>
                  </a:path>
                </a:pathLst>
              </a:custGeom>
              <a:gradFill rotWithShape="true">
                <a:gsLst>
                  <a:gs pos="0">
                    <a:srgbClr val="596615">
                      <a:alpha val="100000"/>
                    </a:srgbClr>
                  </a:gs>
                  <a:gs pos="100000">
                    <a:srgbClr val="596614">
                      <a:alpha val="0"/>
                    </a:srgbClr>
                  </a:gs>
                </a:gsLst>
                <a:lin ang="0"/>
              </a:gradFill>
            </p:spPr>
          </p:sp>
          <p:sp>
            <p:nvSpPr>
              <p:cNvPr name="TextBox 17" id="17"/>
              <p:cNvSpPr txBox="true"/>
              <p:nvPr/>
            </p:nvSpPr>
            <p:spPr>
              <a:xfrm>
                <a:off x="0" y="-47625"/>
                <a:ext cx="713569" cy="327306"/>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4601569" y="3727322"/>
              <a:ext cx="4920255" cy="492025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86017" y="0"/>
                    </a:moveTo>
                    <a:lnTo>
                      <a:pt x="726783" y="0"/>
                    </a:lnTo>
                    <a:cubicBezTo>
                      <a:pt x="774289" y="0"/>
                      <a:pt x="812800" y="38511"/>
                      <a:pt x="812800" y="86017"/>
                    </a:cubicBezTo>
                    <a:lnTo>
                      <a:pt x="812800" y="726783"/>
                    </a:lnTo>
                    <a:cubicBezTo>
                      <a:pt x="812800" y="774289"/>
                      <a:pt x="774289" y="812800"/>
                      <a:pt x="726783" y="812800"/>
                    </a:cubicBezTo>
                    <a:lnTo>
                      <a:pt x="86017" y="812800"/>
                    </a:lnTo>
                    <a:cubicBezTo>
                      <a:pt x="38511" y="812800"/>
                      <a:pt x="0" y="774289"/>
                      <a:pt x="0" y="726783"/>
                    </a:cubicBezTo>
                    <a:lnTo>
                      <a:pt x="0" y="86017"/>
                    </a:lnTo>
                    <a:cubicBezTo>
                      <a:pt x="0" y="38511"/>
                      <a:pt x="38511" y="0"/>
                      <a:pt x="86017" y="0"/>
                    </a:cubicBezTo>
                    <a:close/>
                  </a:path>
                </a:pathLst>
              </a:custGeom>
              <a:blipFill>
                <a:blip r:embed="rId4"/>
                <a:stretch>
                  <a:fillRect l="-16666" t="0" r="-16666" b="0"/>
                </a:stretch>
              </a:blipFill>
            </p:spPr>
          </p:sp>
        </p:grpSp>
        <p:grpSp>
          <p:nvGrpSpPr>
            <p:cNvPr name="Group 20" id="20"/>
            <p:cNvGrpSpPr/>
            <p:nvPr/>
          </p:nvGrpSpPr>
          <p:grpSpPr>
            <a:xfrm rot="5400000">
              <a:off x="7972737" y="4126158"/>
              <a:ext cx="3155453" cy="1415885"/>
              <a:chOff x="0" y="0"/>
              <a:chExt cx="623299" cy="279681"/>
            </a:xfrm>
          </p:grpSpPr>
          <p:sp>
            <p:nvSpPr>
              <p:cNvPr name="Freeform 21" id="21"/>
              <p:cNvSpPr/>
              <p:nvPr/>
            </p:nvSpPr>
            <p:spPr>
              <a:xfrm flipH="false" flipV="false" rot="0">
                <a:off x="0" y="0"/>
                <a:ext cx="623299" cy="279681"/>
              </a:xfrm>
              <a:custGeom>
                <a:avLst/>
                <a:gdLst/>
                <a:ahLst/>
                <a:cxnLst/>
                <a:rect r="r" b="b" t="t" l="l"/>
                <a:pathLst>
                  <a:path h="279681" w="623299">
                    <a:moveTo>
                      <a:pt x="114497" y="0"/>
                    </a:moveTo>
                    <a:lnTo>
                      <a:pt x="508802" y="0"/>
                    </a:lnTo>
                    <a:cubicBezTo>
                      <a:pt x="539169" y="0"/>
                      <a:pt x="568292" y="12063"/>
                      <a:pt x="589764" y="33535"/>
                    </a:cubicBezTo>
                    <a:cubicBezTo>
                      <a:pt x="611236" y="55008"/>
                      <a:pt x="623299" y="84130"/>
                      <a:pt x="623299" y="114497"/>
                    </a:cubicBezTo>
                    <a:lnTo>
                      <a:pt x="623299" y="165184"/>
                    </a:lnTo>
                    <a:cubicBezTo>
                      <a:pt x="623299" y="195551"/>
                      <a:pt x="611236" y="224673"/>
                      <a:pt x="589764" y="246146"/>
                    </a:cubicBezTo>
                    <a:cubicBezTo>
                      <a:pt x="568292" y="267618"/>
                      <a:pt x="539169" y="279681"/>
                      <a:pt x="508802" y="279681"/>
                    </a:cubicBezTo>
                    <a:lnTo>
                      <a:pt x="114497" y="279681"/>
                    </a:lnTo>
                    <a:cubicBezTo>
                      <a:pt x="84130" y="279681"/>
                      <a:pt x="55008" y="267618"/>
                      <a:pt x="33535" y="246146"/>
                    </a:cubicBezTo>
                    <a:cubicBezTo>
                      <a:pt x="12063" y="224673"/>
                      <a:pt x="0" y="195551"/>
                      <a:pt x="0" y="165184"/>
                    </a:cubicBezTo>
                    <a:lnTo>
                      <a:pt x="0" y="114497"/>
                    </a:lnTo>
                    <a:cubicBezTo>
                      <a:pt x="0" y="84130"/>
                      <a:pt x="12063" y="55008"/>
                      <a:pt x="33535" y="33535"/>
                    </a:cubicBezTo>
                    <a:cubicBezTo>
                      <a:pt x="55008" y="12063"/>
                      <a:pt x="84130" y="0"/>
                      <a:pt x="114497" y="0"/>
                    </a:cubicBezTo>
                    <a:close/>
                  </a:path>
                </a:pathLst>
              </a:custGeom>
              <a:gradFill rotWithShape="true">
                <a:gsLst>
                  <a:gs pos="0">
                    <a:srgbClr val="596615">
                      <a:alpha val="100000"/>
                    </a:srgbClr>
                  </a:gs>
                  <a:gs pos="100000">
                    <a:srgbClr val="596614">
                      <a:alpha val="0"/>
                    </a:srgbClr>
                  </a:gs>
                </a:gsLst>
                <a:lin ang="0"/>
              </a:gradFill>
            </p:spPr>
          </p:sp>
          <p:sp>
            <p:nvSpPr>
              <p:cNvPr name="TextBox 22" id="22"/>
              <p:cNvSpPr txBox="true"/>
              <p:nvPr/>
            </p:nvSpPr>
            <p:spPr>
              <a:xfrm>
                <a:off x="0" y="-47625"/>
                <a:ext cx="623299" cy="327306"/>
              </a:xfrm>
              <a:prstGeom prst="rect">
                <a:avLst/>
              </a:prstGeom>
            </p:spPr>
            <p:txBody>
              <a:bodyPr anchor="ctr" rtlCol="false" tIns="50800" lIns="50800" bIns="50800" rIns="50800"/>
              <a:lstStyle/>
              <a:p>
                <a:pPr algn="ctr">
                  <a:lnSpc>
                    <a:spcPts val="2800"/>
                  </a:lnSpc>
                </a:pPr>
              </a:p>
            </p:txBody>
          </p:sp>
        </p:grpSp>
      </p:grpSp>
      <p:grpSp>
        <p:nvGrpSpPr>
          <p:cNvPr name="Group 23" id="23"/>
          <p:cNvGrpSpPr/>
          <p:nvPr/>
        </p:nvGrpSpPr>
        <p:grpSpPr>
          <a:xfrm rot="0">
            <a:off x="464734" y="603722"/>
            <a:ext cx="17358533" cy="849956"/>
            <a:chOff x="0" y="0"/>
            <a:chExt cx="23144711" cy="1133274"/>
          </a:xfrm>
        </p:grpSpPr>
        <p:grpSp>
          <p:nvGrpSpPr>
            <p:cNvPr name="Group 24" id="24"/>
            <p:cNvGrpSpPr/>
            <p:nvPr/>
          </p:nvGrpSpPr>
          <p:grpSpPr>
            <a:xfrm rot="0">
              <a:off x="0" y="0"/>
              <a:ext cx="23144711" cy="1133274"/>
              <a:chOff x="0" y="0"/>
              <a:chExt cx="4571795" cy="223857"/>
            </a:xfrm>
          </p:grpSpPr>
          <p:sp>
            <p:nvSpPr>
              <p:cNvPr name="Freeform 25" id="25"/>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26" id="26"/>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8" id="28"/>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29" id="29"/>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sp>
        <p:nvSpPr>
          <p:cNvPr name="TextBox 30" id="30"/>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4</a:t>
            </a:r>
          </a:p>
        </p:txBody>
      </p:sp>
      <p:sp>
        <p:nvSpPr>
          <p:cNvPr name="TextBox 31" id="31"/>
          <p:cNvSpPr txBox="true"/>
          <p:nvPr/>
        </p:nvSpPr>
        <p:spPr>
          <a:xfrm rot="0">
            <a:off x="9058870" y="4768850"/>
            <a:ext cx="170259" cy="701675"/>
          </a:xfrm>
          <a:prstGeom prst="rect">
            <a:avLst/>
          </a:prstGeom>
        </p:spPr>
        <p:txBody>
          <a:bodyPr anchor="t" rtlCol="false" tIns="0" lIns="0" bIns="0" rIns="0">
            <a:spAutoFit/>
          </a:bodyPr>
          <a:lstStyle/>
          <a:p>
            <a:pPr algn="ctr">
              <a:lnSpc>
                <a:spcPts val="2800"/>
              </a:lnSpc>
              <a:spcBef>
                <a:spcPct val="0"/>
              </a:spcBef>
            </a:pPr>
          </a:p>
          <a:p>
            <a:pPr algn="ctr">
              <a:lnSpc>
                <a:spcPts val="2800"/>
              </a:lnSpc>
              <a:spcBef>
                <a:spcPct val="0"/>
              </a:spcBef>
            </a:pPr>
            <a:r>
              <a:rPr lang="en-US" sz="2000">
                <a:solidFill>
                  <a:srgbClr val="FFFFFF"/>
                </a:solidFill>
                <a:latin typeface="TT Hoves"/>
                <a:ea typeface="TT Hoves"/>
                <a:cs typeface="TT Hoves"/>
                <a:sym typeface="TT Hoves"/>
              </a:rPr>
              <a:t> •</a:t>
            </a:r>
          </a:p>
        </p:txBody>
      </p:sp>
      <p:sp>
        <p:nvSpPr>
          <p:cNvPr name="TextBox 32" id="32"/>
          <p:cNvSpPr txBox="true"/>
          <p:nvPr/>
        </p:nvSpPr>
        <p:spPr>
          <a:xfrm rot="0">
            <a:off x="693373" y="1821638"/>
            <a:ext cx="8517341" cy="1037082"/>
          </a:xfrm>
          <a:prstGeom prst="rect">
            <a:avLst/>
          </a:prstGeom>
        </p:spPr>
        <p:txBody>
          <a:bodyPr anchor="t" rtlCol="false" tIns="0" lIns="0" bIns="0" rIns="0">
            <a:spAutoFit/>
          </a:bodyPr>
          <a:lstStyle/>
          <a:p>
            <a:pPr algn="just">
              <a:lnSpc>
                <a:spcPts val="4104"/>
              </a:lnSpc>
            </a:pPr>
            <a:r>
              <a:rPr lang="en-US" b="true" sz="3600">
                <a:solidFill>
                  <a:srgbClr val="82961B"/>
                </a:solidFill>
                <a:latin typeface="TT Hoves Bold"/>
                <a:ea typeface="TT Hoves Bold"/>
                <a:cs typeface="TT Hoves Bold"/>
                <a:sym typeface="TT Hoves Bold"/>
              </a:rPr>
              <a:t>Mengapa Mojokerto–Jombang Layak Disimulasikan?</a:t>
            </a:r>
          </a:p>
        </p:txBody>
      </p:sp>
      <p:grpSp>
        <p:nvGrpSpPr>
          <p:cNvPr name="Group 33" id="33"/>
          <p:cNvGrpSpPr/>
          <p:nvPr/>
        </p:nvGrpSpPr>
        <p:grpSpPr>
          <a:xfrm rot="0">
            <a:off x="693373" y="3172114"/>
            <a:ext cx="7712065" cy="5984875"/>
            <a:chOff x="0" y="0"/>
            <a:chExt cx="10282753" cy="7979834"/>
          </a:xfrm>
        </p:grpSpPr>
        <p:sp>
          <p:nvSpPr>
            <p:cNvPr name="TextBox 34" id="34"/>
            <p:cNvSpPr txBox="true"/>
            <p:nvPr/>
          </p:nvSpPr>
          <p:spPr>
            <a:xfrm rot="0">
              <a:off x="0" y="-47625"/>
              <a:ext cx="10282753" cy="1131358"/>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Jalur Mojokerto–Jombang termasuk koridor aktivitas harian tinggi.</a:t>
              </a:r>
            </a:p>
          </p:txBody>
        </p:sp>
        <p:sp>
          <p:nvSpPr>
            <p:cNvPr name="TextBox 35" id="35"/>
            <p:cNvSpPr txBox="true"/>
            <p:nvPr/>
          </p:nvSpPr>
          <p:spPr>
            <a:xfrm rot="0">
              <a:off x="0" y="1527175"/>
              <a:ext cx="10282753" cy="1715558"/>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Merupakan jalur strategis yang menghubungkan kawasan industri, pemerintahan, dan wisata sejarah (Trowulan).</a:t>
              </a:r>
            </a:p>
          </p:txBody>
        </p:sp>
        <p:sp>
          <p:nvSpPr>
            <p:cNvPr name="TextBox 36" id="36"/>
            <p:cNvSpPr txBox="true"/>
            <p:nvPr/>
          </p:nvSpPr>
          <p:spPr>
            <a:xfrm rot="0">
              <a:off x="0" y="3690408"/>
              <a:ext cx="10282753" cy="1715558"/>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Belum tersedia layanan transportasi massal terintegrasi yang menghubungkan kedua kota secara langsung.</a:t>
              </a:r>
            </a:p>
          </p:txBody>
        </p:sp>
        <p:sp>
          <p:nvSpPr>
            <p:cNvPr name="TextBox 37" id="37"/>
            <p:cNvSpPr txBox="true"/>
            <p:nvPr/>
          </p:nvSpPr>
          <p:spPr>
            <a:xfrm rot="0">
              <a:off x="0" y="5853642"/>
              <a:ext cx="10282753" cy="1131358"/>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Pola pergerakan masyarakat stabil sehingga layak diuji sebagai calon rute Trans Jatim baru.</a:t>
              </a:r>
            </a:p>
          </p:txBody>
        </p:sp>
        <p:sp>
          <p:nvSpPr>
            <p:cNvPr name="TextBox 38" id="38"/>
            <p:cNvSpPr txBox="true"/>
            <p:nvPr/>
          </p:nvSpPr>
          <p:spPr>
            <a:xfrm rot="0">
              <a:off x="0" y="7432675"/>
              <a:ext cx="10282753" cy="547158"/>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Potensial Sebagai Ekspansi Strategis Trans Jatim.</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15465057" y="8882367"/>
            <a:ext cx="1794243" cy="751867"/>
            <a:chOff x="0" y="0"/>
            <a:chExt cx="969826" cy="406400"/>
          </a:xfrm>
        </p:grpSpPr>
        <p:sp>
          <p:nvSpPr>
            <p:cNvPr name="Freeform 7" id="7"/>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8" id="8"/>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0">
            <a:off x="2176847" y="2366968"/>
            <a:ext cx="6509485" cy="5750076"/>
            <a:chOff x="0" y="0"/>
            <a:chExt cx="812800" cy="717977"/>
          </a:xfrm>
        </p:grpSpPr>
        <p:sp>
          <p:nvSpPr>
            <p:cNvPr name="Freeform 10" id="10"/>
            <p:cNvSpPr/>
            <p:nvPr/>
          </p:nvSpPr>
          <p:spPr>
            <a:xfrm flipH="false" flipV="false" rot="0">
              <a:off x="0" y="0"/>
              <a:ext cx="812800" cy="717977"/>
            </a:xfrm>
            <a:custGeom>
              <a:avLst/>
              <a:gdLst/>
              <a:ahLst/>
              <a:cxnLst/>
              <a:rect r="r" b="b" t="t" l="l"/>
              <a:pathLst>
                <a:path h="717977" w="812800">
                  <a:moveTo>
                    <a:pt x="48762" y="0"/>
                  </a:moveTo>
                  <a:lnTo>
                    <a:pt x="764038" y="0"/>
                  </a:lnTo>
                  <a:cubicBezTo>
                    <a:pt x="790968" y="0"/>
                    <a:pt x="812800" y="21832"/>
                    <a:pt x="812800" y="48762"/>
                  </a:cubicBezTo>
                  <a:lnTo>
                    <a:pt x="812800" y="669215"/>
                  </a:lnTo>
                  <a:cubicBezTo>
                    <a:pt x="812800" y="682147"/>
                    <a:pt x="807663" y="694550"/>
                    <a:pt x="798518" y="703695"/>
                  </a:cubicBezTo>
                  <a:cubicBezTo>
                    <a:pt x="789373" y="712840"/>
                    <a:pt x="776970" y="717977"/>
                    <a:pt x="764038" y="717977"/>
                  </a:cubicBezTo>
                  <a:lnTo>
                    <a:pt x="48762" y="717977"/>
                  </a:lnTo>
                  <a:cubicBezTo>
                    <a:pt x="21832" y="717977"/>
                    <a:pt x="0" y="696146"/>
                    <a:pt x="0" y="669215"/>
                  </a:cubicBezTo>
                  <a:lnTo>
                    <a:pt x="0" y="48762"/>
                  </a:lnTo>
                  <a:cubicBezTo>
                    <a:pt x="0" y="21832"/>
                    <a:pt x="21832" y="0"/>
                    <a:pt x="48762" y="0"/>
                  </a:cubicBezTo>
                  <a:close/>
                </a:path>
              </a:pathLst>
            </a:custGeom>
            <a:blipFill>
              <a:blip r:embed="rId3"/>
              <a:stretch>
                <a:fillRect l="-8889" t="0" r="-8889" b="0"/>
              </a:stretch>
            </a:blipFill>
          </p:spPr>
        </p:sp>
      </p:grpSp>
      <p:grpSp>
        <p:nvGrpSpPr>
          <p:cNvPr name="Group 11" id="11"/>
          <p:cNvGrpSpPr/>
          <p:nvPr/>
        </p:nvGrpSpPr>
        <p:grpSpPr>
          <a:xfrm rot="0">
            <a:off x="1805491" y="7519809"/>
            <a:ext cx="3928378" cy="942015"/>
            <a:chOff x="0" y="0"/>
            <a:chExt cx="1166322" cy="279681"/>
          </a:xfrm>
        </p:grpSpPr>
        <p:sp>
          <p:nvSpPr>
            <p:cNvPr name="Freeform 12" id="12"/>
            <p:cNvSpPr/>
            <p:nvPr/>
          </p:nvSpPr>
          <p:spPr>
            <a:xfrm flipH="false" flipV="false" rot="0">
              <a:off x="0" y="0"/>
              <a:ext cx="1166322" cy="279681"/>
            </a:xfrm>
            <a:custGeom>
              <a:avLst/>
              <a:gdLst/>
              <a:ahLst/>
              <a:cxnLst/>
              <a:rect r="r" b="b" t="t" l="l"/>
              <a:pathLst>
                <a:path h="279681" w="1166322">
                  <a:moveTo>
                    <a:pt x="68977" y="0"/>
                  </a:moveTo>
                  <a:lnTo>
                    <a:pt x="1097345" y="0"/>
                  </a:lnTo>
                  <a:cubicBezTo>
                    <a:pt x="1135440" y="0"/>
                    <a:pt x="1166322" y="30882"/>
                    <a:pt x="1166322" y="68977"/>
                  </a:cubicBezTo>
                  <a:lnTo>
                    <a:pt x="1166322" y="210704"/>
                  </a:lnTo>
                  <a:cubicBezTo>
                    <a:pt x="1166322" y="228998"/>
                    <a:pt x="1159055" y="246542"/>
                    <a:pt x="1146119" y="259478"/>
                  </a:cubicBezTo>
                  <a:cubicBezTo>
                    <a:pt x="1133184" y="272414"/>
                    <a:pt x="1115639" y="279681"/>
                    <a:pt x="1097345" y="279681"/>
                  </a:cubicBezTo>
                  <a:lnTo>
                    <a:pt x="68977" y="279681"/>
                  </a:lnTo>
                  <a:cubicBezTo>
                    <a:pt x="50683" y="279681"/>
                    <a:pt x="33139" y="272414"/>
                    <a:pt x="20203" y="259478"/>
                  </a:cubicBezTo>
                  <a:cubicBezTo>
                    <a:pt x="7267" y="246542"/>
                    <a:pt x="0" y="228998"/>
                    <a:pt x="0" y="210704"/>
                  </a:cubicBezTo>
                  <a:lnTo>
                    <a:pt x="0" y="68977"/>
                  </a:lnTo>
                  <a:cubicBezTo>
                    <a:pt x="0" y="50683"/>
                    <a:pt x="7267" y="33139"/>
                    <a:pt x="20203" y="20203"/>
                  </a:cubicBezTo>
                  <a:cubicBezTo>
                    <a:pt x="33139" y="7267"/>
                    <a:pt x="50683" y="0"/>
                    <a:pt x="68977" y="0"/>
                  </a:cubicBezTo>
                  <a:close/>
                </a:path>
              </a:pathLst>
            </a:custGeom>
            <a:gradFill rotWithShape="true">
              <a:gsLst>
                <a:gs pos="0">
                  <a:srgbClr val="596615">
                    <a:alpha val="100000"/>
                  </a:srgbClr>
                </a:gs>
                <a:gs pos="100000">
                  <a:srgbClr val="596614">
                    <a:alpha val="0"/>
                  </a:srgbClr>
                </a:gs>
              </a:gsLst>
              <a:lin ang="0"/>
            </a:gradFill>
          </p:spPr>
        </p:sp>
        <p:sp>
          <p:nvSpPr>
            <p:cNvPr name="TextBox 13" id="13"/>
            <p:cNvSpPr txBox="true"/>
            <p:nvPr/>
          </p:nvSpPr>
          <p:spPr>
            <a:xfrm>
              <a:off x="0" y="-47625"/>
              <a:ext cx="1166322" cy="327306"/>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16919305" y="3277378"/>
            <a:ext cx="2021186" cy="2650736"/>
          </a:xfrm>
          <a:custGeom>
            <a:avLst/>
            <a:gdLst/>
            <a:ahLst/>
            <a:cxnLst/>
            <a:rect r="r" b="b" t="t" l="l"/>
            <a:pathLst>
              <a:path h="2650736" w="2021186">
                <a:moveTo>
                  <a:pt x="0" y="0"/>
                </a:moveTo>
                <a:lnTo>
                  <a:pt x="2021187" y="0"/>
                </a:lnTo>
                <a:lnTo>
                  <a:pt x="2021187" y="2650736"/>
                </a:lnTo>
                <a:lnTo>
                  <a:pt x="0" y="2650736"/>
                </a:lnTo>
                <a:lnTo>
                  <a:pt x="0" y="0"/>
                </a:lnTo>
                <a:close/>
              </a:path>
            </a:pathLst>
          </a:custGeom>
          <a:blipFill>
            <a:blip r:embed="rId4"/>
            <a:stretch>
              <a:fillRect l="0" t="0" r="0" b="0"/>
            </a:stretch>
          </a:blipFill>
        </p:spPr>
      </p:sp>
      <p:sp>
        <p:nvSpPr>
          <p:cNvPr name="Freeform 15" id="15"/>
          <p:cNvSpPr/>
          <p:nvPr/>
        </p:nvSpPr>
        <p:spPr>
          <a:xfrm flipH="false" flipV="false" rot="1884797">
            <a:off x="7533981" y="6607564"/>
            <a:ext cx="1610019" cy="3204017"/>
          </a:xfrm>
          <a:custGeom>
            <a:avLst/>
            <a:gdLst/>
            <a:ahLst/>
            <a:cxnLst/>
            <a:rect r="r" b="b" t="t" l="l"/>
            <a:pathLst>
              <a:path h="3204017" w="1610019">
                <a:moveTo>
                  <a:pt x="0" y="0"/>
                </a:moveTo>
                <a:lnTo>
                  <a:pt x="1610019" y="0"/>
                </a:lnTo>
                <a:lnTo>
                  <a:pt x="1610019" y="3204017"/>
                </a:lnTo>
                <a:lnTo>
                  <a:pt x="0" y="3204017"/>
                </a:lnTo>
                <a:lnTo>
                  <a:pt x="0" y="0"/>
                </a:lnTo>
                <a:close/>
              </a:path>
            </a:pathLst>
          </a:custGeom>
          <a:blipFill>
            <a:blip r:embed="rId5"/>
            <a:stretch>
              <a:fillRect l="0" t="0" r="0" b="0"/>
            </a:stretch>
          </a:blipFill>
        </p:spPr>
      </p:sp>
      <p:sp>
        <p:nvSpPr>
          <p:cNvPr name="Freeform 16" id="16"/>
          <p:cNvSpPr/>
          <p:nvPr/>
        </p:nvSpPr>
        <p:spPr>
          <a:xfrm flipH="false" flipV="false" rot="0">
            <a:off x="-910523" y="1952010"/>
            <a:ext cx="2379036" cy="2650736"/>
          </a:xfrm>
          <a:custGeom>
            <a:avLst/>
            <a:gdLst/>
            <a:ahLst/>
            <a:cxnLst/>
            <a:rect r="r" b="b" t="t" l="l"/>
            <a:pathLst>
              <a:path h="2650736" w="2379036">
                <a:moveTo>
                  <a:pt x="0" y="0"/>
                </a:moveTo>
                <a:lnTo>
                  <a:pt x="2379035" y="0"/>
                </a:lnTo>
                <a:lnTo>
                  <a:pt x="2379035" y="2650736"/>
                </a:lnTo>
                <a:lnTo>
                  <a:pt x="0" y="2650736"/>
                </a:lnTo>
                <a:lnTo>
                  <a:pt x="0" y="0"/>
                </a:lnTo>
                <a:close/>
              </a:path>
            </a:pathLst>
          </a:custGeom>
          <a:blipFill>
            <a:blip r:embed="rId6"/>
            <a:stretch>
              <a:fillRect l="0" t="0" r="0" b="0"/>
            </a:stretch>
          </a:blipFill>
        </p:spPr>
      </p:sp>
      <p:grpSp>
        <p:nvGrpSpPr>
          <p:cNvPr name="Group 17" id="17"/>
          <p:cNvGrpSpPr/>
          <p:nvPr/>
        </p:nvGrpSpPr>
        <p:grpSpPr>
          <a:xfrm rot="0">
            <a:off x="464734" y="603722"/>
            <a:ext cx="17358533" cy="849956"/>
            <a:chOff x="0" y="0"/>
            <a:chExt cx="23144711" cy="1133274"/>
          </a:xfrm>
        </p:grpSpPr>
        <p:grpSp>
          <p:nvGrpSpPr>
            <p:cNvPr name="Group 18" id="18"/>
            <p:cNvGrpSpPr/>
            <p:nvPr/>
          </p:nvGrpSpPr>
          <p:grpSpPr>
            <a:xfrm rot="0">
              <a:off x="0" y="0"/>
              <a:ext cx="23144711" cy="1133274"/>
              <a:chOff x="0" y="0"/>
              <a:chExt cx="4571795" cy="223857"/>
            </a:xfrm>
          </p:grpSpPr>
          <p:sp>
            <p:nvSpPr>
              <p:cNvPr name="Freeform 19" id="19"/>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20" id="20"/>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2" id="22"/>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23" id="23"/>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sp>
        <p:nvSpPr>
          <p:cNvPr name="TextBox 24" id="24"/>
          <p:cNvSpPr txBox="true"/>
          <p:nvPr/>
        </p:nvSpPr>
        <p:spPr>
          <a:xfrm rot="0">
            <a:off x="1057927" y="9059863"/>
            <a:ext cx="3576454" cy="349250"/>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www.reallygreatsite.com</a:t>
            </a:r>
          </a:p>
        </p:txBody>
      </p:sp>
      <p:sp>
        <p:nvSpPr>
          <p:cNvPr name="TextBox 25" id="25"/>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5</a:t>
            </a:r>
          </a:p>
        </p:txBody>
      </p:sp>
      <p:sp>
        <p:nvSpPr>
          <p:cNvPr name="TextBox 26" id="26"/>
          <p:cNvSpPr txBox="true"/>
          <p:nvPr/>
        </p:nvSpPr>
        <p:spPr>
          <a:xfrm rot="0">
            <a:off x="9664418" y="2386018"/>
            <a:ext cx="5894021" cy="742950"/>
          </a:xfrm>
          <a:prstGeom prst="rect">
            <a:avLst/>
          </a:prstGeom>
        </p:spPr>
        <p:txBody>
          <a:bodyPr anchor="t" rtlCol="false" tIns="0" lIns="0" bIns="0" rIns="0">
            <a:spAutoFit/>
          </a:bodyPr>
          <a:lstStyle/>
          <a:p>
            <a:pPr algn="l" marL="0" indent="0" lvl="0">
              <a:lnSpc>
                <a:spcPts val="5700"/>
              </a:lnSpc>
            </a:pPr>
            <a:r>
              <a:rPr lang="en-US" b="true" sz="5000">
                <a:solidFill>
                  <a:srgbClr val="82961B"/>
                </a:solidFill>
                <a:latin typeface="TT Hoves Bold"/>
                <a:ea typeface="TT Hoves Bold"/>
                <a:cs typeface="TT Hoves Bold"/>
                <a:sym typeface="TT Hoves Bold"/>
              </a:rPr>
              <a:t>Tujuan Proyek</a:t>
            </a:r>
          </a:p>
        </p:txBody>
      </p:sp>
      <p:grpSp>
        <p:nvGrpSpPr>
          <p:cNvPr name="Group 27" id="27"/>
          <p:cNvGrpSpPr/>
          <p:nvPr/>
        </p:nvGrpSpPr>
        <p:grpSpPr>
          <a:xfrm rot="0">
            <a:off x="9664418" y="3583144"/>
            <a:ext cx="6818092" cy="4533900"/>
            <a:chOff x="0" y="0"/>
            <a:chExt cx="9090789" cy="6045200"/>
          </a:xfrm>
        </p:grpSpPr>
        <p:sp>
          <p:nvSpPr>
            <p:cNvPr name="TextBox 28" id="28"/>
            <p:cNvSpPr txBox="true"/>
            <p:nvPr/>
          </p:nvSpPr>
          <p:spPr>
            <a:xfrm rot="0">
              <a:off x="0" y="-66675"/>
              <a:ext cx="9090789" cy="1387475"/>
            </a:xfrm>
            <a:prstGeom prst="rect">
              <a:avLst/>
            </a:prstGeom>
          </p:spPr>
          <p:txBody>
            <a:bodyPr anchor="t" rtlCol="false" tIns="0" lIns="0" bIns="0" rIns="0">
              <a:spAutoFit/>
            </a:bodyPr>
            <a:lstStyle/>
            <a:p>
              <a:pPr algn="just" marL="0" indent="0" lvl="0">
                <a:lnSpc>
                  <a:spcPts val="4200"/>
                </a:lnSpc>
                <a:spcBef>
                  <a:spcPct val="0"/>
                </a:spcBef>
              </a:pPr>
              <a:r>
                <a:rPr lang="en-US" sz="3000">
                  <a:solidFill>
                    <a:srgbClr val="FFFFFF"/>
                  </a:solidFill>
                  <a:latin typeface="TT Hoves"/>
                  <a:ea typeface="TT Hoves"/>
                  <a:cs typeface="TT Hoves"/>
                  <a:sym typeface="TT Hoves"/>
                </a:rPr>
                <a:t>Mendesain rute baru Mojokerto–Jombang berbasis teori graf.</a:t>
              </a:r>
            </a:p>
          </p:txBody>
        </p:sp>
        <p:sp>
          <p:nvSpPr>
            <p:cNvPr name="TextBox 29" id="29"/>
            <p:cNvSpPr txBox="true"/>
            <p:nvPr/>
          </p:nvSpPr>
          <p:spPr>
            <a:xfrm rot="0">
              <a:off x="0" y="1508125"/>
              <a:ext cx="9090789" cy="1387475"/>
            </a:xfrm>
            <a:prstGeom prst="rect">
              <a:avLst/>
            </a:prstGeom>
          </p:spPr>
          <p:txBody>
            <a:bodyPr anchor="t" rtlCol="false" tIns="0" lIns="0" bIns="0" rIns="0">
              <a:spAutoFit/>
            </a:bodyPr>
            <a:lstStyle/>
            <a:p>
              <a:pPr algn="just" marL="0" indent="0" lvl="0">
                <a:lnSpc>
                  <a:spcPts val="4200"/>
                </a:lnSpc>
                <a:spcBef>
                  <a:spcPct val="0"/>
                </a:spcBef>
              </a:pPr>
              <a:r>
                <a:rPr lang="en-US" sz="3000">
                  <a:solidFill>
                    <a:srgbClr val="FFFFFF"/>
                  </a:solidFill>
                  <a:latin typeface="TT Hoves"/>
                  <a:ea typeface="TT Hoves"/>
                  <a:cs typeface="TT Hoves"/>
                  <a:sym typeface="TT Hoves"/>
                </a:rPr>
                <a:t>Menganalisis titik halte strategis dan konektivitas jalur.</a:t>
              </a:r>
            </a:p>
          </p:txBody>
        </p:sp>
        <p:sp>
          <p:nvSpPr>
            <p:cNvPr name="TextBox 30" id="30"/>
            <p:cNvSpPr txBox="true"/>
            <p:nvPr/>
          </p:nvSpPr>
          <p:spPr>
            <a:xfrm rot="0">
              <a:off x="0" y="3082925"/>
              <a:ext cx="9090789" cy="1387475"/>
            </a:xfrm>
            <a:prstGeom prst="rect">
              <a:avLst/>
            </a:prstGeom>
          </p:spPr>
          <p:txBody>
            <a:bodyPr anchor="t" rtlCol="false" tIns="0" lIns="0" bIns="0" rIns="0">
              <a:spAutoFit/>
            </a:bodyPr>
            <a:lstStyle/>
            <a:p>
              <a:pPr algn="just" marL="0" indent="0" lvl="0">
                <a:lnSpc>
                  <a:spcPts val="4200"/>
                </a:lnSpc>
                <a:spcBef>
                  <a:spcPct val="0"/>
                </a:spcBef>
              </a:pPr>
              <a:r>
                <a:rPr lang="en-US" sz="3000">
                  <a:solidFill>
                    <a:srgbClr val="FFFFFF"/>
                  </a:solidFill>
                  <a:latin typeface="TT Hoves"/>
                  <a:ea typeface="TT Hoves"/>
                  <a:cs typeface="TT Hoves"/>
                  <a:sym typeface="TT Hoves"/>
                </a:rPr>
                <a:t>Membangun simulasi untuk mencari jalur paling efisien.</a:t>
              </a:r>
            </a:p>
          </p:txBody>
        </p:sp>
        <p:sp>
          <p:nvSpPr>
            <p:cNvPr name="TextBox 31" id="31"/>
            <p:cNvSpPr txBox="true"/>
            <p:nvPr/>
          </p:nvSpPr>
          <p:spPr>
            <a:xfrm rot="0">
              <a:off x="0" y="4657725"/>
              <a:ext cx="9090789" cy="1387475"/>
            </a:xfrm>
            <a:prstGeom prst="rect">
              <a:avLst/>
            </a:prstGeom>
          </p:spPr>
          <p:txBody>
            <a:bodyPr anchor="t" rtlCol="false" tIns="0" lIns="0" bIns="0" rIns="0">
              <a:spAutoFit/>
            </a:bodyPr>
            <a:lstStyle/>
            <a:p>
              <a:pPr algn="just" marL="0" indent="0" lvl="0">
                <a:lnSpc>
                  <a:spcPts val="4200"/>
                </a:lnSpc>
                <a:spcBef>
                  <a:spcPct val="0"/>
                </a:spcBef>
              </a:pPr>
              <a:r>
                <a:rPr lang="en-US" sz="3000">
                  <a:solidFill>
                    <a:srgbClr val="FFFFFF"/>
                  </a:solidFill>
                  <a:latin typeface="TT Hoves"/>
                  <a:ea typeface="TT Hoves"/>
                  <a:cs typeface="TT Hoves"/>
                  <a:sym typeface="TT Hoves"/>
                </a:rPr>
                <a:t>Menyediakan insight untuk inovasi desain rute Trans Jatim non-GKS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15465057" y="8882367"/>
            <a:ext cx="1794243" cy="751867"/>
            <a:chOff x="0" y="0"/>
            <a:chExt cx="969826" cy="406400"/>
          </a:xfrm>
        </p:grpSpPr>
        <p:sp>
          <p:nvSpPr>
            <p:cNvPr name="Freeform 7" id="7"/>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8" id="8"/>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0">
            <a:off x="1289833" y="2856221"/>
            <a:ext cx="2209905" cy="5507018"/>
            <a:chOff x="0" y="0"/>
            <a:chExt cx="582033" cy="1450408"/>
          </a:xfrm>
        </p:grpSpPr>
        <p:sp>
          <p:nvSpPr>
            <p:cNvPr name="Freeform 10" id="10"/>
            <p:cNvSpPr/>
            <p:nvPr/>
          </p:nvSpPr>
          <p:spPr>
            <a:xfrm flipH="false" flipV="false" rot="0">
              <a:off x="0" y="0"/>
              <a:ext cx="582033" cy="1450408"/>
            </a:xfrm>
            <a:custGeom>
              <a:avLst/>
              <a:gdLst/>
              <a:ahLst/>
              <a:cxnLst/>
              <a:rect r="r" b="b" t="t" l="l"/>
              <a:pathLst>
                <a:path h="1450408" w="582033">
                  <a:moveTo>
                    <a:pt x="178667" y="0"/>
                  </a:moveTo>
                  <a:lnTo>
                    <a:pt x="403365" y="0"/>
                  </a:lnTo>
                  <a:cubicBezTo>
                    <a:pt x="502040" y="0"/>
                    <a:pt x="582033" y="79992"/>
                    <a:pt x="582033" y="178667"/>
                  </a:cubicBezTo>
                  <a:lnTo>
                    <a:pt x="582033" y="1271741"/>
                  </a:lnTo>
                  <a:cubicBezTo>
                    <a:pt x="582033" y="1370416"/>
                    <a:pt x="502040" y="1450408"/>
                    <a:pt x="403365" y="1450408"/>
                  </a:cubicBezTo>
                  <a:lnTo>
                    <a:pt x="178667" y="1450408"/>
                  </a:lnTo>
                  <a:cubicBezTo>
                    <a:pt x="131282" y="1450408"/>
                    <a:pt x="85837" y="1431584"/>
                    <a:pt x="52330" y="1398078"/>
                  </a:cubicBezTo>
                  <a:cubicBezTo>
                    <a:pt x="18824" y="1364571"/>
                    <a:pt x="0" y="1319126"/>
                    <a:pt x="0" y="1271741"/>
                  </a:cubicBezTo>
                  <a:lnTo>
                    <a:pt x="0" y="178667"/>
                  </a:lnTo>
                  <a:cubicBezTo>
                    <a:pt x="0" y="79992"/>
                    <a:pt x="79992" y="0"/>
                    <a:pt x="178667" y="0"/>
                  </a:cubicBezTo>
                  <a:close/>
                </a:path>
              </a:pathLst>
            </a:custGeom>
            <a:gradFill rotWithShape="true">
              <a:gsLst>
                <a:gs pos="0">
                  <a:srgbClr val="596615">
                    <a:alpha val="100000"/>
                  </a:srgbClr>
                </a:gs>
                <a:gs pos="100000">
                  <a:srgbClr val="7E9218">
                    <a:alpha val="100000"/>
                  </a:srgbClr>
                </a:gs>
              </a:gsLst>
              <a:lin ang="0"/>
            </a:gradFill>
          </p:spPr>
        </p:sp>
        <p:sp>
          <p:nvSpPr>
            <p:cNvPr name="TextBox 11" id="11"/>
            <p:cNvSpPr txBox="true"/>
            <p:nvPr/>
          </p:nvSpPr>
          <p:spPr>
            <a:xfrm>
              <a:off x="0" y="-47625"/>
              <a:ext cx="582033" cy="1498033"/>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2139687" y="2512725"/>
            <a:ext cx="3054293" cy="1943282"/>
            <a:chOff x="0" y="0"/>
            <a:chExt cx="795439" cy="506095"/>
          </a:xfrm>
        </p:grpSpPr>
        <p:sp>
          <p:nvSpPr>
            <p:cNvPr name="Freeform 13" id="13"/>
            <p:cNvSpPr/>
            <p:nvPr/>
          </p:nvSpPr>
          <p:spPr>
            <a:xfrm flipH="false" flipV="false" rot="0">
              <a:off x="0" y="0"/>
              <a:ext cx="795439" cy="506095"/>
            </a:xfrm>
            <a:custGeom>
              <a:avLst/>
              <a:gdLst/>
              <a:ahLst/>
              <a:cxnLst/>
              <a:rect r="r" b="b" t="t" l="l"/>
              <a:pathLst>
                <a:path h="506095" w="795439">
                  <a:moveTo>
                    <a:pt x="101391" y="0"/>
                  </a:moveTo>
                  <a:lnTo>
                    <a:pt x="694048" y="0"/>
                  </a:lnTo>
                  <a:cubicBezTo>
                    <a:pt x="750044" y="0"/>
                    <a:pt x="795439" y="45394"/>
                    <a:pt x="795439" y="101391"/>
                  </a:cubicBezTo>
                  <a:lnTo>
                    <a:pt x="795439" y="404704"/>
                  </a:lnTo>
                  <a:cubicBezTo>
                    <a:pt x="795439" y="431594"/>
                    <a:pt x="784756" y="457384"/>
                    <a:pt x="765742" y="476398"/>
                  </a:cubicBezTo>
                  <a:cubicBezTo>
                    <a:pt x="746727" y="495412"/>
                    <a:pt x="720938" y="506095"/>
                    <a:pt x="694048" y="506095"/>
                  </a:cubicBezTo>
                  <a:lnTo>
                    <a:pt x="101391" y="506095"/>
                  </a:lnTo>
                  <a:cubicBezTo>
                    <a:pt x="74500" y="506095"/>
                    <a:pt x="48711" y="495412"/>
                    <a:pt x="29697" y="476398"/>
                  </a:cubicBezTo>
                  <a:cubicBezTo>
                    <a:pt x="10682" y="457384"/>
                    <a:pt x="0" y="431594"/>
                    <a:pt x="0" y="404704"/>
                  </a:cubicBezTo>
                  <a:lnTo>
                    <a:pt x="0" y="101391"/>
                  </a:lnTo>
                  <a:cubicBezTo>
                    <a:pt x="0" y="74500"/>
                    <a:pt x="10682" y="48711"/>
                    <a:pt x="29697" y="29697"/>
                  </a:cubicBezTo>
                  <a:cubicBezTo>
                    <a:pt x="48711" y="10682"/>
                    <a:pt x="74500" y="0"/>
                    <a:pt x="101391" y="0"/>
                  </a:cubicBezTo>
                  <a:close/>
                </a:path>
              </a:pathLst>
            </a:custGeom>
            <a:blipFill>
              <a:blip r:embed="rId3"/>
              <a:stretch>
                <a:fillRect l="-6555" t="0" r="-6555" b="0"/>
              </a:stretch>
            </a:blipFill>
          </p:spPr>
        </p:sp>
      </p:grpSp>
      <p:grpSp>
        <p:nvGrpSpPr>
          <p:cNvPr name="Group 14" id="14"/>
          <p:cNvGrpSpPr/>
          <p:nvPr/>
        </p:nvGrpSpPr>
        <p:grpSpPr>
          <a:xfrm rot="0">
            <a:off x="2139687" y="4643878"/>
            <a:ext cx="3054293" cy="1943282"/>
            <a:chOff x="0" y="0"/>
            <a:chExt cx="795439" cy="506095"/>
          </a:xfrm>
        </p:grpSpPr>
        <p:sp>
          <p:nvSpPr>
            <p:cNvPr name="Freeform 15" id="15"/>
            <p:cNvSpPr/>
            <p:nvPr/>
          </p:nvSpPr>
          <p:spPr>
            <a:xfrm flipH="false" flipV="false" rot="0">
              <a:off x="0" y="0"/>
              <a:ext cx="795439" cy="506095"/>
            </a:xfrm>
            <a:custGeom>
              <a:avLst/>
              <a:gdLst/>
              <a:ahLst/>
              <a:cxnLst/>
              <a:rect r="r" b="b" t="t" l="l"/>
              <a:pathLst>
                <a:path h="506095" w="795439">
                  <a:moveTo>
                    <a:pt x="101391" y="0"/>
                  </a:moveTo>
                  <a:lnTo>
                    <a:pt x="694048" y="0"/>
                  </a:lnTo>
                  <a:cubicBezTo>
                    <a:pt x="750044" y="0"/>
                    <a:pt x="795439" y="45394"/>
                    <a:pt x="795439" y="101391"/>
                  </a:cubicBezTo>
                  <a:lnTo>
                    <a:pt x="795439" y="404704"/>
                  </a:lnTo>
                  <a:cubicBezTo>
                    <a:pt x="795439" y="431594"/>
                    <a:pt x="784756" y="457384"/>
                    <a:pt x="765742" y="476398"/>
                  </a:cubicBezTo>
                  <a:cubicBezTo>
                    <a:pt x="746727" y="495412"/>
                    <a:pt x="720938" y="506095"/>
                    <a:pt x="694048" y="506095"/>
                  </a:cubicBezTo>
                  <a:lnTo>
                    <a:pt x="101391" y="506095"/>
                  </a:lnTo>
                  <a:cubicBezTo>
                    <a:pt x="74500" y="506095"/>
                    <a:pt x="48711" y="495412"/>
                    <a:pt x="29697" y="476398"/>
                  </a:cubicBezTo>
                  <a:cubicBezTo>
                    <a:pt x="10682" y="457384"/>
                    <a:pt x="0" y="431594"/>
                    <a:pt x="0" y="404704"/>
                  </a:cubicBezTo>
                  <a:lnTo>
                    <a:pt x="0" y="101391"/>
                  </a:lnTo>
                  <a:cubicBezTo>
                    <a:pt x="0" y="74500"/>
                    <a:pt x="10682" y="48711"/>
                    <a:pt x="29697" y="29697"/>
                  </a:cubicBezTo>
                  <a:cubicBezTo>
                    <a:pt x="48711" y="10682"/>
                    <a:pt x="74500" y="0"/>
                    <a:pt x="101391" y="0"/>
                  </a:cubicBezTo>
                  <a:close/>
                </a:path>
              </a:pathLst>
            </a:custGeom>
            <a:blipFill>
              <a:blip r:embed="rId4"/>
              <a:stretch>
                <a:fillRect l="0" t="-4764" r="0" b="-4764"/>
              </a:stretch>
            </a:blipFill>
          </p:spPr>
        </p:sp>
      </p:grpSp>
      <p:grpSp>
        <p:nvGrpSpPr>
          <p:cNvPr name="Group 16" id="16"/>
          <p:cNvGrpSpPr/>
          <p:nvPr/>
        </p:nvGrpSpPr>
        <p:grpSpPr>
          <a:xfrm rot="0">
            <a:off x="2139687" y="6775030"/>
            <a:ext cx="3054293" cy="1943282"/>
            <a:chOff x="0" y="0"/>
            <a:chExt cx="795439" cy="506095"/>
          </a:xfrm>
        </p:grpSpPr>
        <p:sp>
          <p:nvSpPr>
            <p:cNvPr name="Freeform 17" id="17"/>
            <p:cNvSpPr/>
            <p:nvPr/>
          </p:nvSpPr>
          <p:spPr>
            <a:xfrm flipH="false" flipV="false" rot="0">
              <a:off x="0" y="0"/>
              <a:ext cx="795439" cy="506095"/>
            </a:xfrm>
            <a:custGeom>
              <a:avLst/>
              <a:gdLst/>
              <a:ahLst/>
              <a:cxnLst/>
              <a:rect r="r" b="b" t="t" l="l"/>
              <a:pathLst>
                <a:path h="506095" w="795439">
                  <a:moveTo>
                    <a:pt x="101391" y="0"/>
                  </a:moveTo>
                  <a:lnTo>
                    <a:pt x="694048" y="0"/>
                  </a:lnTo>
                  <a:cubicBezTo>
                    <a:pt x="750044" y="0"/>
                    <a:pt x="795439" y="45394"/>
                    <a:pt x="795439" y="101391"/>
                  </a:cubicBezTo>
                  <a:lnTo>
                    <a:pt x="795439" y="404704"/>
                  </a:lnTo>
                  <a:cubicBezTo>
                    <a:pt x="795439" y="431594"/>
                    <a:pt x="784756" y="457384"/>
                    <a:pt x="765742" y="476398"/>
                  </a:cubicBezTo>
                  <a:cubicBezTo>
                    <a:pt x="746727" y="495412"/>
                    <a:pt x="720938" y="506095"/>
                    <a:pt x="694048" y="506095"/>
                  </a:cubicBezTo>
                  <a:lnTo>
                    <a:pt x="101391" y="506095"/>
                  </a:lnTo>
                  <a:cubicBezTo>
                    <a:pt x="74500" y="506095"/>
                    <a:pt x="48711" y="495412"/>
                    <a:pt x="29697" y="476398"/>
                  </a:cubicBezTo>
                  <a:cubicBezTo>
                    <a:pt x="10682" y="457384"/>
                    <a:pt x="0" y="431594"/>
                    <a:pt x="0" y="404704"/>
                  </a:cubicBezTo>
                  <a:lnTo>
                    <a:pt x="0" y="101391"/>
                  </a:lnTo>
                  <a:cubicBezTo>
                    <a:pt x="0" y="74500"/>
                    <a:pt x="10682" y="48711"/>
                    <a:pt x="29697" y="29697"/>
                  </a:cubicBezTo>
                  <a:cubicBezTo>
                    <a:pt x="48711" y="10682"/>
                    <a:pt x="74500" y="0"/>
                    <a:pt x="101391" y="0"/>
                  </a:cubicBezTo>
                  <a:close/>
                </a:path>
              </a:pathLst>
            </a:custGeom>
            <a:blipFill>
              <a:blip r:embed="rId5"/>
              <a:stretch>
                <a:fillRect l="-5671" t="0" r="-5671" b="0"/>
              </a:stretch>
            </a:blipFill>
          </p:spPr>
        </p:sp>
      </p:grpSp>
      <p:grpSp>
        <p:nvGrpSpPr>
          <p:cNvPr name="Group 18" id="18"/>
          <p:cNvGrpSpPr/>
          <p:nvPr/>
        </p:nvGrpSpPr>
        <p:grpSpPr>
          <a:xfrm rot="0">
            <a:off x="464734" y="603722"/>
            <a:ext cx="17358533" cy="849956"/>
            <a:chOff x="0" y="0"/>
            <a:chExt cx="23144711" cy="1133274"/>
          </a:xfrm>
        </p:grpSpPr>
        <p:grpSp>
          <p:nvGrpSpPr>
            <p:cNvPr name="Group 19" id="19"/>
            <p:cNvGrpSpPr/>
            <p:nvPr/>
          </p:nvGrpSpPr>
          <p:grpSpPr>
            <a:xfrm rot="0">
              <a:off x="0" y="0"/>
              <a:ext cx="23144711" cy="1133274"/>
              <a:chOff x="0" y="0"/>
              <a:chExt cx="4571795" cy="223857"/>
            </a:xfrm>
          </p:grpSpPr>
          <p:sp>
            <p:nvSpPr>
              <p:cNvPr name="Freeform 20" id="20"/>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21" id="21"/>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24" id="24"/>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sp>
        <p:nvSpPr>
          <p:cNvPr name="TextBox 25" id="25"/>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6</a:t>
            </a:r>
          </a:p>
        </p:txBody>
      </p:sp>
      <p:sp>
        <p:nvSpPr>
          <p:cNvPr name="TextBox 26" id="26"/>
          <p:cNvSpPr txBox="true"/>
          <p:nvPr/>
        </p:nvSpPr>
        <p:spPr>
          <a:xfrm rot="0">
            <a:off x="10551071" y="2223958"/>
            <a:ext cx="6091117" cy="582930"/>
          </a:xfrm>
          <a:prstGeom prst="rect">
            <a:avLst/>
          </a:prstGeom>
        </p:spPr>
        <p:txBody>
          <a:bodyPr anchor="t" rtlCol="false" tIns="0" lIns="0" bIns="0" rIns="0">
            <a:spAutoFit/>
          </a:bodyPr>
          <a:lstStyle/>
          <a:p>
            <a:pPr algn="l" marL="0" indent="0" lvl="0">
              <a:lnSpc>
                <a:spcPts val="4559"/>
              </a:lnSpc>
            </a:pPr>
            <a:r>
              <a:rPr lang="en-US" b="true" sz="3999">
                <a:solidFill>
                  <a:srgbClr val="82961B"/>
                </a:solidFill>
                <a:latin typeface="TT Hoves Bold"/>
                <a:ea typeface="TT Hoves Bold"/>
                <a:cs typeface="TT Hoves Bold"/>
                <a:sym typeface="TT Hoves Bold"/>
              </a:rPr>
              <a:t>Data yang Digunakan</a:t>
            </a:r>
          </a:p>
        </p:txBody>
      </p:sp>
      <p:grpSp>
        <p:nvGrpSpPr>
          <p:cNvPr name="Group 27" id="27"/>
          <p:cNvGrpSpPr/>
          <p:nvPr/>
        </p:nvGrpSpPr>
        <p:grpSpPr>
          <a:xfrm rot="0">
            <a:off x="5375935" y="2512725"/>
            <a:ext cx="3768065" cy="1238367"/>
            <a:chOff x="0" y="0"/>
            <a:chExt cx="1118726" cy="367667"/>
          </a:xfrm>
        </p:grpSpPr>
        <p:sp>
          <p:nvSpPr>
            <p:cNvPr name="Freeform 28" id="28"/>
            <p:cNvSpPr/>
            <p:nvPr/>
          </p:nvSpPr>
          <p:spPr>
            <a:xfrm flipH="false" flipV="false" rot="0">
              <a:off x="0" y="0"/>
              <a:ext cx="1118726" cy="367667"/>
            </a:xfrm>
            <a:custGeom>
              <a:avLst/>
              <a:gdLst/>
              <a:ahLst/>
              <a:cxnLst/>
              <a:rect r="r" b="b" t="t" l="l"/>
              <a:pathLst>
                <a:path h="367667" w="1118726">
                  <a:moveTo>
                    <a:pt x="82185" y="0"/>
                  </a:moveTo>
                  <a:lnTo>
                    <a:pt x="1036541" y="0"/>
                  </a:lnTo>
                  <a:cubicBezTo>
                    <a:pt x="1081931" y="0"/>
                    <a:pt x="1118726" y="36795"/>
                    <a:pt x="1118726" y="82185"/>
                  </a:cubicBezTo>
                  <a:lnTo>
                    <a:pt x="1118726" y="285483"/>
                  </a:lnTo>
                  <a:cubicBezTo>
                    <a:pt x="1118726" y="307279"/>
                    <a:pt x="1110067" y="328183"/>
                    <a:pt x="1094655" y="343596"/>
                  </a:cubicBezTo>
                  <a:cubicBezTo>
                    <a:pt x="1079242" y="359008"/>
                    <a:pt x="1058338" y="367667"/>
                    <a:pt x="1036541" y="367667"/>
                  </a:cubicBezTo>
                  <a:lnTo>
                    <a:pt x="82185" y="367667"/>
                  </a:lnTo>
                  <a:cubicBezTo>
                    <a:pt x="60388" y="367667"/>
                    <a:pt x="39484" y="359008"/>
                    <a:pt x="24071" y="343596"/>
                  </a:cubicBezTo>
                  <a:cubicBezTo>
                    <a:pt x="8659" y="328183"/>
                    <a:pt x="0" y="307279"/>
                    <a:pt x="0" y="285483"/>
                  </a:cubicBezTo>
                  <a:lnTo>
                    <a:pt x="0" y="82185"/>
                  </a:lnTo>
                  <a:cubicBezTo>
                    <a:pt x="0" y="60388"/>
                    <a:pt x="8659" y="39484"/>
                    <a:pt x="24071" y="24071"/>
                  </a:cubicBezTo>
                  <a:cubicBezTo>
                    <a:pt x="39484" y="8659"/>
                    <a:pt x="60388" y="0"/>
                    <a:pt x="82185" y="0"/>
                  </a:cubicBezTo>
                  <a:close/>
                </a:path>
              </a:pathLst>
            </a:custGeom>
            <a:gradFill rotWithShape="true">
              <a:gsLst>
                <a:gs pos="0">
                  <a:srgbClr val="596615">
                    <a:alpha val="100000"/>
                  </a:srgbClr>
                </a:gs>
                <a:gs pos="100000">
                  <a:srgbClr val="596614">
                    <a:alpha val="0"/>
                  </a:srgbClr>
                </a:gs>
              </a:gsLst>
              <a:lin ang="5400000"/>
            </a:gradFill>
          </p:spPr>
        </p:sp>
        <p:sp>
          <p:nvSpPr>
            <p:cNvPr name="TextBox 29" id="29"/>
            <p:cNvSpPr txBox="true"/>
            <p:nvPr/>
          </p:nvSpPr>
          <p:spPr>
            <a:xfrm>
              <a:off x="0" y="-47625"/>
              <a:ext cx="1118726" cy="415292"/>
            </a:xfrm>
            <a:prstGeom prst="rect">
              <a:avLst/>
            </a:prstGeom>
          </p:spPr>
          <p:txBody>
            <a:bodyPr anchor="ctr" rtlCol="false" tIns="50800" lIns="50800" bIns="50800" rIns="50800"/>
            <a:lstStyle/>
            <a:p>
              <a:pPr algn="l">
                <a:lnSpc>
                  <a:spcPts val="2800"/>
                </a:lnSpc>
              </a:pPr>
            </a:p>
          </p:txBody>
        </p:sp>
      </p:grpSp>
      <p:sp>
        <p:nvSpPr>
          <p:cNvPr name="TextBox 30" id="30"/>
          <p:cNvSpPr txBox="true"/>
          <p:nvPr/>
        </p:nvSpPr>
        <p:spPr>
          <a:xfrm rot="0">
            <a:off x="6222538" y="2709634"/>
            <a:ext cx="2074859" cy="422275"/>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FFFFFF"/>
                </a:solidFill>
                <a:latin typeface="TT Hoves Bold"/>
                <a:ea typeface="TT Hoves Bold"/>
                <a:cs typeface="TT Hoves Bold"/>
                <a:sym typeface="TT Hoves Bold"/>
              </a:rPr>
              <a:t>Data Halte</a:t>
            </a:r>
          </a:p>
        </p:txBody>
      </p:sp>
      <p:grpSp>
        <p:nvGrpSpPr>
          <p:cNvPr name="Group 31" id="31"/>
          <p:cNvGrpSpPr/>
          <p:nvPr/>
        </p:nvGrpSpPr>
        <p:grpSpPr>
          <a:xfrm rot="0">
            <a:off x="10589171" y="3198548"/>
            <a:ext cx="7234095" cy="4635039"/>
            <a:chOff x="0" y="0"/>
            <a:chExt cx="9645460" cy="6180051"/>
          </a:xfrm>
        </p:grpSpPr>
        <p:sp>
          <p:nvSpPr>
            <p:cNvPr name="TextBox 32" id="32"/>
            <p:cNvSpPr txBox="true"/>
            <p:nvPr/>
          </p:nvSpPr>
          <p:spPr>
            <a:xfrm rot="0">
              <a:off x="0" y="-47625"/>
              <a:ext cx="8893505" cy="1131358"/>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 Data halte Koridor 2 dan Koridor 6 (nama halte + koordinat)</a:t>
              </a:r>
            </a:p>
          </p:txBody>
        </p:sp>
        <p:sp>
          <p:nvSpPr>
            <p:cNvPr name="TextBox 33" id="33"/>
            <p:cNvSpPr txBox="true"/>
            <p:nvPr/>
          </p:nvSpPr>
          <p:spPr>
            <a:xfrm rot="0">
              <a:off x="0" y="1458826"/>
              <a:ext cx="8893505" cy="1715558"/>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Data rute Koridor 2 dan Koridor 6 berupa urutan halte untuk membentuk koneksi antar-node pada graf.</a:t>
              </a:r>
            </a:p>
          </p:txBody>
        </p:sp>
        <p:sp>
          <p:nvSpPr>
            <p:cNvPr name="TextBox 34" id="34"/>
            <p:cNvSpPr txBox="true"/>
            <p:nvPr/>
          </p:nvSpPr>
          <p:spPr>
            <a:xfrm rot="0">
              <a:off x="0" y="3545860"/>
              <a:ext cx="9645460" cy="547158"/>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Waypoints Mojokerto–Jombang(14 halte)</a:t>
              </a:r>
            </a:p>
          </p:txBody>
        </p:sp>
        <p:sp>
          <p:nvSpPr>
            <p:cNvPr name="TextBox 35" id="35"/>
            <p:cNvSpPr txBox="true"/>
            <p:nvPr/>
          </p:nvSpPr>
          <p:spPr>
            <a:xfrm rot="0">
              <a:off x="0" y="4464493"/>
              <a:ext cx="8893505" cy="1715558"/>
            </a:xfrm>
            <a:prstGeom prst="rect">
              <a:avLst/>
            </a:prstGeom>
          </p:spPr>
          <p:txBody>
            <a:bodyPr anchor="t" rtlCol="false" tIns="0" lIns="0" bIns="0" rIns="0">
              <a:spAutoFit/>
            </a:bodyPr>
            <a:lstStyle/>
            <a:p>
              <a:pPr algn="just" marL="0" indent="0" lvl="0">
                <a:lnSpc>
                  <a:spcPts val="3499"/>
                </a:lnSpc>
                <a:spcBef>
                  <a:spcPct val="0"/>
                </a:spcBef>
              </a:pPr>
              <a:r>
                <a:rPr lang="en-US" sz="2499">
                  <a:solidFill>
                    <a:srgbClr val="FFFFFF"/>
                  </a:solidFill>
                  <a:latin typeface="TT Hoves"/>
                  <a:ea typeface="TT Hoves"/>
                  <a:cs typeface="TT Hoves"/>
                  <a:sym typeface="TT Hoves"/>
                </a:rPr>
                <a:t>Data penduduk Surabaya, Kab. Mojokerto, dan Kab. Jombang (2024) sebagai indikator kebutuhan mobilitas.</a:t>
              </a:r>
            </a:p>
          </p:txBody>
        </p:sp>
      </p:grpSp>
      <p:grpSp>
        <p:nvGrpSpPr>
          <p:cNvPr name="Group 36" id="36"/>
          <p:cNvGrpSpPr/>
          <p:nvPr/>
        </p:nvGrpSpPr>
        <p:grpSpPr>
          <a:xfrm rot="0">
            <a:off x="5375935" y="4024694"/>
            <a:ext cx="3768065" cy="1238367"/>
            <a:chOff x="0" y="0"/>
            <a:chExt cx="1118726" cy="367667"/>
          </a:xfrm>
        </p:grpSpPr>
        <p:sp>
          <p:nvSpPr>
            <p:cNvPr name="Freeform 37" id="37"/>
            <p:cNvSpPr/>
            <p:nvPr/>
          </p:nvSpPr>
          <p:spPr>
            <a:xfrm flipH="false" flipV="false" rot="0">
              <a:off x="0" y="0"/>
              <a:ext cx="1118726" cy="367667"/>
            </a:xfrm>
            <a:custGeom>
              <a:avLst/>
              <a:gdLst/>
              <a:ahLst/>
              <a:cxnLst/>
              <a:rect r="r" b="b" t="t" l="l"/>
              <a:pathLst>
                <a:path h="367667" w="1118726">
                  <a:moveTo>
                    <a:pt x="82185" y="0"/>
                  </a:moveTo>
                  <a:lnTo>
                    <a:pt x="1036541" y="0"/>
                  </a:lnTo>
                  <a:cubicBezTo>
                    <a:pt x="1081931" y="0"/>
                    <a:pt x="1118726" y="36795"/>
                    <a:pt x="1118726" y="82185"/>
                  </a:cubicBezTo>
                  <a:lnTo>
                    <a:pt x="1118726" y="285483"/>
                  </a:lnTo>
                  <a:cubicBezTo>
                    <a:pt x="1118726" y="307279"/>
                    <a:pt x="1110067" y="328183"/>
                    <a:pt x="1094655" y="343596"/>
                  </a:cubicBezTo>
                  <a:cubicBezTo>
                    <a:pt x="1079242" y="359008"/>
                    <a:pt x="1058338" y="367667"/>
                    <a:pt x="1036541" y="367667"/>
                  </a:cubicBezTo>
                  <a:lnTo>
                    <a:pt x="82185" y="367667"/>
                  </a:lnTo>
                  <a:cubicBezTo>
                    <a:pt x="60388" y="367667"/>
                    <a:pt x="39484" y="359008"/>
                    <a:pt x="24071" y="343596"/>
                  </a:cubicBezTo>
                  <a:cubicBezTo>
                    <a:pt x="8659" y="328183"/>
                    <a:pt x="0" y="307279"/>
                    <a:pt x="0" y="285483"/>
                  </a:cubicBezTo>
                  <a:lnTo>
                    <a:pt x="0" y="82185"/>
                  </a:lnTo>
                  <a:cubicBezTo>
                    <a:pt x="0" y="60388"/>
                    <a:pt x="8659" y="39484"/>
                    <a:pt x="24071" y="24071"/>
                  </a:cubicBezTo>
                  <a:cubicBezTo>
                    <a:pt x="39484" y="8659"/>
                    <a:pt x="60388" y="0"/>
                    <a:pt x="82185" y="0"/>
                  </a:cubicBezTo>
                  <a:close/>
                </a:path>
              </a:pathLst>
            </a:custGeom>
            <a:gradFill rotWithShape="true">
              <a:gsLst>
                <a:gs pos="0">
                  <a:srgbClr val="596615">
                    <a:alpha val="100000"/>
                  </a:srgbClr>
                </a:gs>
                <a:gs pos="100000">
                  <a:srgbClr val="596614">
                    <a:alpha val="0"/>
                  </a:srgbClr>
                </a:gs>
              </a:gsLst>
              <a:lin ang="5400000"/>
            </a:gradFill>
          </p:spPr>
        </p:sp>
        <p:sp>
          <p:nvSpPr>
            <p:cNvPr name="TextBox 38" id="38"/>
            <p:cNvSpPr txBox="true"/>
            <p:nvPr/>
          </p:nvSpPr>
          <p:spPr>
            <a:xfrm>
              <a:off x="0" y="-47625"/>
              <a:ext cx="1118726" cy="415292"/>
            </a:xfrm>
            <a:prstGeom prst="rect">
              <a:avLst/>
            </a:prstGeom>
          </p:spPr>
          <p:txBody>
            <a:bodyPr anchor="ctr" rtlCol="false" tIns="50800" lIns="50800" bIns="50800" rIns="50800"/>
            <a:lstStyle/>
            <a:p>
              <a:pPr algn="l">
                <a:lnSpc>
                  <a:spcPts val="2800"/>
                </a:lnSpc>
              </a:pPr>
            </a:p>
          </p:txBody>
        </p:sp>
      </p:grpSp>
      <p:sp>
        <p:nvSpPr>
          <p:cNvPr name="TextBox 39" id="39"/>
          <p:cNvSpPr txBox="true"/>
          <p:nvPr/>
        </p:nvSpPr>
        <p:spPr>
          <a:xfrm rot="0">
            <a:off x="6222538" y="4221602"/>
            <a:ext cx="2074859" cy="422275"/>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FFFFFF"/>
                </a:solidFill>
                <a:latin typeface="TT Hoves Bold"/>
                <a:ea typeface="TT Hoves Bold"/>
                <a:cs typeface="TT Hoves Bold"/>
                <a:sym typeface="TT Hoves Bold"/>
              </a:rPr>
              <a:t>Data Rute</a:t>
            </a:r>
          </a:p>
        </p:txBody>
      </p:sp>
      <p:grpSp>
        <p:nvGrpSpPr>
          <p:cNvPr name="Group 40" id="40"/>
          <p:cNvGrpSpPr/>
          <p:nvPr/>
        </p:nvGrpSpPr>
        <p:grpSpPr>
          <a:xfrm rot="0">
            <a:off x="5375935" y="5536663"/>
            <a:ext cx="3768065" cy="1676517"/>
            <a:chOff x="0" y="0"/>
            <a:chExt cx="1118726" cy="497752"/>
          </a:xfrm>
        </p:grpSpPr>
        <p:sp>
          <p:nvSpPr>
            <p:cNvPr name="Freeform 41" id="41"/>
            <p:cNvSpPr/>
            <p:nvPr/>
          </p:nvSpPr>
          <p:spPr>
            <a:xfrm flipH="false" flipV="false" rot="0">
              <a:off x="0" y="0"/>
              <a:ext cx="1118726" cy="497752"/>
            </a:xfrm>
            <a:custGeom>
              <a:avLst/>
              <a:gdLst/>
              <a:ahLst/>
              <a:cxnLst/>
              <a:rect r="r" b="b" t="t" l="l"/>
              <a:pathLst>
                <a:path h="497752" w="1118726">
                  <a:moveTo>
                    <a:pt x="82185" y="0"/>
                  </a:moveTo>
                  <a:lnTo>
                    <a:pt x="1036541" y="0"/>
                  </a:lnTo>
                  <a:cubicBezTo>
                    <a:pt x="1081931" y="0"/>
                    <a:pt x="1118726" y="36795"/>
                    <a:pt x="1118726" y="82185"/>
                  </a:cubicBezTo>
                  <a:lnTo>
                    <a:pt x="1118726" y="415568"/>
                  </a:lnTo>
                  <a:cubicBezTo>
                    <a:pt x="1118726" y="437364"/>
                    <a:pt x="1110067" y="458268"/>
                    <a:pt x="1094655" y="473681"/>
                  </a:cubicBezTo>
                  <a:cubicBezTo>
                    <a:pt x="1079242" y="489094"/>
                    <a:pt x="1058338" y="497752"/>
                    <a:pt x="1036541" y="497752"/>
                  </a:cubicBezTo>
                  <a:lnTo>
                    <a:pt x="82185" y="497752"/>
                  </a:lnTo>
                  <a:cubicBezTo>
                    <a:pt x="60388" y="497752"/>
                    <a:pt x="39484" y="489094"/>
                    <a:pt x="24071" y="473681"/>
                  </a:cubicBezTo>
                  <a:cubicBezTo>
                    <a:pt x="8659" y="458268"/>
                    <a:pt x="0" y="437364"/>
                    <a:pt x="0" y="415568"/>
                  </a:cubicBezTo>
                  <a:lnTo>
                    <a:pt x="0" y="82185"/>
                  </a:lnTo>
                  <a:cubicBezTo>
                    <a:pt x="0" y="60388"/>
                    <a:pt x="8659" y="39484"/>
                    <a:pt x="24071" y="24071"/>
                  </a:cubicBezTo>
                  <a:cubicBezTo>
                    <a:pt x="39484" y="8659"/>
                    <a:pt x="60388" y="0"/>
                    <a:pt x="82185" y="0"/>
                  </a:cubicBezTo>
                  <a:close/>
                </a:path>
              </a:pathLst>
            </a:custGeom>
            <a:gradFill rotWithShape="true">
              <a:gsLst>
                <a:gs pos="0">
                  <a:srgbClr val="596615">
                    <a:alpha val="100000"/>
                  </a:srgbClr>
                </a:gs>
                <a:gs pos="100000">
                  <a:srgbClr val="596614">
                    <a:alpha val="0"/>
                  </a:srgbClr>
                </a:gs>
              </a:gsLst>
              <a:lin ang="5400000"/>
            </a:gradFill>
          </p:spPr>
        </p:sp>
        <p:sp>
          <p:nvSpPr>
            <p:cNvPr name="TextBox 42" id="42"/>
            <p:cNvSpPr txBox="true"/>
            <p:nvPr/>
          </p:nvSpPr>
          <p:spPr>
            <a:xfrm>
              <a:off x="0" y="-47625"/>
              <a:ext cx="1118726" cy="545377"/>
            </a:xfrm>
            <a:prstGeom prst="rect">
              <a:avLst/>
            </a:prstGeom>
          </p:spPr>
          <p:txBody>
            <a:bodyPr anchor="ctr" rtlCol="false" tIns="50800" lIns="50800" bIns="50800" rIns="50800"/>
            <a:lstStyle/>
            <a:p>
              <a:pPr algn="l">
                <a:lnSpc>
                  <a:spcPts val="2800"/>
                </a:lnSpc>
              </a:pPr>
            </a:p>
          </p:txBody>
        </p:sp>
      </p:grpSp>
      <p:sp>
        <p:nvSpPr>
          <p:cNvPr name="TextBox 43" id="43"/>
          <p:cNvSpPr txBox="true"/>
          <p:nvPr/>
        </p:nvSpPr>
        <p:spPr>
          <a:xfrm rot="0">
            <a:off x="5818665" y="5729786"/>
            <a:ext cx="2882605" cy="422275"/>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FFFFFF"/>
                </a:solidFill>
                <a:latin typeface="TT Hoves Bold"/>
                <a:ea typeface="TT Hoves Bold"/>
                <a:cs typeface="TT Hoves Bold"/>
                <a:sym typeface="TT Hoves Bold"/>
              </a:rPr>
              <a:t>Data Waypoints</a:t>
            </a:r>
          </a:p>
        </p:txBody>
      </p:sp>
      <p:grpSp>
        <p:nvGrpSpPr>
          <p:cNvPr name="Group 44" id="44"/>
          <p:cNvGrpSpPr/>
          <p:nvPr/>
        </p:nvGrpSpPr>
        <p:grpSpPr>
          <a:xfrm rot="0">
            <a:off x="5375935" y="7048631"/>
            <a:ext cx="3768065" cy="1676517"/>
            <a:chOff x="0" y="0"/>
            <a:chExt cx="1118726" cy="497752"/>
          </a:xfrm>
        </p:grpSpPr>
        <p:sp>
          <p:nvSpPr>
            <p:cNvPr name="Freeform 45" id="45"/>
            <p:cNvSpPr/>
            <p:nvPr/>
          </p:nvSpPr>
          <p:spPr>
            <a:xfrm flipH="false" flipV="false" rot="0">
              <a:off x="0" y="0"/>
              <a:ext cx="1118726" cy="497752"/>
            </a:xfrm>
            <a:custGeom>
              <a:avLst/>
              <a:gdLst/>
              <a:ahLst/>
              <a:cxnLst/>
              <a:rect r="r" b="b" t="t" l="l"/>
              <a:pathLst>
                <a:path h="497752" w="1118726">
                  <a:moveTo>
                    <a:pt x="82185" y="0"/>
                  </a:moveTo>
                  <a:lnTo>
                    <a:pt x="1036541" y="0"/>
                  </a:lnTo>
                  <a:cubicBezTo>
                    <a:pt x="1081931" y="0"/>
                    <a:pt x="1118726" y="36795"/>
                    <a:pt x="1118726" y="82185"/>
                  </a:cubicBezTo>
                  <a:lnTo>
                    <a:pt x="1118726" y="415568"/>
                  </a:lnTo>
                  <a:cubicBezTo>
                    <a:pt x="1118726" y="437364"/>
                    <a:pt x="1110067" y="458268"/>
                    <a:pt x="1094655" y="473681"/>
                  </a:cubicBezTo>
                  <a:cubicBezTo>
                    <a:pt x="1079242" y="489094"/>
                    <a:pt x="1058338" y="497752"/>
                    <a:pt x="1036541" y="497752"/>
                  </a:cubicBezTo>
                  <a:lnTo>
                    <a:pt x="82185" y="497752"/>
                  </a:lnTo>
                  <a:cubicBezTo>
                    <a:pt x="60388" y="497752"/>
                    <a:pt x="39484" y="489094"/>
                    <a:pt x="24071" y="473681"/>
                  </a:cubicBezTo>
                  <a:cubicBezTo>
                    <a:pt x="8659" y="458268"/>
                    <a:pt x="0" y="437364"/>
                    <a:pt x="0" y="415568"/>
                  </a:cubicBezTo>
                  <a:lnTo>
                    <a:pt x="0" y="82185"/>
                  </a:lnTo>
                  <a:cubicBezTo>
                    <a:pt x="0" y="60388"/>
                    <a:pt x="8659" y="39484"/>
                    <a:pt x="24071" y="24071"/>
                  </a:cubicBezTo>
                  <a:cubicBezTo>
                    <a:pt x="39484" y="8659"/>
                    <a:pt x="60388" y="0"/>
                    <a:pt x="82185" y="0"/>
                  </a:cubicBezTo>
                  <a:close/>
                </a:path>
              </a:pathLst>
            </a:custGeom>
            <a:gradFill rotWithShape="true">
              <a:gsLst>
                <a:gs pos="0">
                  <a:srgbClr val="596615">
                    <a:alpha val="100000"/>
                  </a:srgbClr>
                </a:gs>
                <a:gs pos="100000">
                  <a:srgbClr val="596614">
                    <a:alpha val="0"/>
                  </a:srgbClr>
                </a:gs>
              </a:gsLst>
              <a:lin ang="5400000"/>
            </a:gradFill>
          </p:spPr>
        </p:sp>
        <p:sp>
          <p:nvSpPr>
            <p:cNvPr name="TextBox 46" id="46"/>
            <p:cNvSpPr txBox="true"/>
            <p:nvPr/>
          </p:nvSpPr>
          <p:spPr>
            <a:xfrm>
              <a:off x="0" y="-47625"/>
              <a:ext cx="1118726" cy="545377"/>
            </a:xfrm>
            <a:prstGeom prst="rect">
              <a:avLst/>
            </a:prstGeom>
          </p:spPr>
          <p:txBody>
            <a:bodyPr anchor="ctr" rtlCol="false" tIns="50800" lIns="50800" bIns="50800" rIns="50800"/>
            <a:lstStyle/>
            <a:p>
              <a:pPr algn="l">
                <a:lnSpc>
                  <a:spcPts val="2800"/>
                </a:lnSpc>
              </a:pPr>
            </a:p>
          </p:txBody>
        </p:sp>
      </p:grpSp>
      <p:sp>
        <p:nvSpPr>
          <p:cNvPr name="TextBox 47" id="47"/>
          <p:cNvSpPr txBox="true"/>
          <p:nvPr/>
        </p:nvSpPr>
        <p:spPr>
          <a:xfrm rot="0">
            <a:off x="6020601" y="7324396"/>
            <a:ext cx="2478732" cy="422275"/>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FFFFFF"/>
                </a:solidFill>
                <a:latin typeface="TT Hoves Bold"/>
                <a:ea typeface="TT Hoves Bold"/>
                <a:cs typeface="TT Hoves Bold"/>
                <a:sym typeface="TT Hoves Bold"/>
              </a:rPr>
              <a:t>Data Penduduk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1989101" y="5112269"/>
            <a:ext cx="6715466" cy="2630250"/>
            <a:chOff x="0" y="0"/>
            <a:chExt cx="1222749" cy="478915"/>
          </a:xfrm>
        </p:grpSpPr>
        <p:sp>
          <p:nvSpPr>
            <p:cNvPr name="Freeform 7" id="7"/>
            <p:cNvSpPr/>
            <p:nvPr/>
          </p:nvSpPr>
          <p:spPr>
            <a:xfrm flipH="false" flipV="false" rot="0">
              <a:off x="0" y="0"/>
              <a:ext cx="1222749" cy="478915"/>
            </a:xfrm>
            <a:custGeom>
              <a:avLst/>
              <a:gdLst/>
              <a:ahLst/>
              <a:cxnLst/>
              <a:rect r="r" b="b" t="t" l="l"/>
              <a:pathLst>
                <a:path h="478915" w="1222749">
                  <a:moveTo>
                    <a:pt x="47267" y="0"/>
                  </a:moveTo>
                  <a:lnTo>
                    <a:pt x="1175483" y="0"/>
                  </a:lnTo>
                  <a:cubicBezTo>
                    <a:pt x="1188019" y="0"/>
                    <a:pt x="1200041" y="4980"/>
                    <a:pt x="1208905" y="13844"/>
                  </a:cubicBezTo>
                  <a:cubicBezTo>
                    <a:pt x="1217770" y="22708"/>
                    <a:pt x="1222749" y="34731"/>
                    <a:pt x="1222749" y="47267"/>
                  </a:cubicBezTo>
                  <a:lnTo>
                    <a:pt x="1222749" y="431648"/>
                  </a:lnTo>
                  <a:cubicBezTo>
                    <a:pt x="1222749" y="444184"/>
                    <a:pt x="1217770" y="456206"/>
                    <a:pt x="1208905" y="465071"/>
                  </a:cubicBezTo>
                  <a:cubicBezTo>
                    <a:pt x="1200041" y="473935"/>
                    <a:pt x="1188019" y="478915"/>
                    <a:pt x="1175483" y="478915"/>
                  </a:cubicBezTo>
                  <a:lnTo>
                    <a:pt x="47267" y="478915"/>
                  </a:lnTo>
                  <a:cubicBezTo>
                    <a:pt x="34731" y="478915"/>
                    <a:pt x="22708" y="473935"/>
                    <a:pt x="13844" y="465071"/>
                  </a:cubicBezTo>
                  <a:cubicBezTo>
                    <a:pt x="4980" y="456206"/>
                    <a:pt x="0" y="444184"/>
                    <a:pt x="0" y="431648"/>
                  </a:cubicBezTo>
                  <a:lnTo>
                    <a:pt x="0" y="47267"/>
                  </a:lnTo>
                  <a:cubicBezTo>
                    <a:pt x="0" y="34731"/>
                    <a:pt x="4980" y="22708"/>
                    <a:pt x="13844" y="13844"/>
                  </a:cubicBezTo>
                  <a:cubicBezTo>
                    <a:pt x="22708" y="4980"/>
                    <a:pt x="34731" y="0"/>
                    <a:pt x="47267" y="0"/>
                  </a:cubicBezTo>
                  <a:close/>
                </a:path>
              </a:pathLst>
            </a:custGeom>
            <a:blipFill>
              <a:blip r:embed="rId3"/>
              <a:stretch>
                <a:fillRect l="0" t="-10597" r="0" b="-10597"/>
              </a:stretch>
            </a:blipFill>
          </p:spPr>
        </p:sp>
      </p:grpSp>
      <p:grpSp>
        <p:nvGrpSpPr>
          <p:cNvPr name="Group 8" id="8"/>
          <p:cNvGrpSpPr/>
          <p:nvPr/>
        </p:nvGrpSpPr>
        <p:grpSpPr>
          <a:xfrm rot="0">
            <a:off x="1617745" y="7145284"/>
            <a:ext cx="3928378" cy="942015"/>
            <a:chOff x="0" y="0"/>
            <a:chExt cx="1166322" cy="279681"/>
          </a:xfrm>
        </p:grpSpPr>
        <p:sp>
          <p:nvSpPr>
            <p:cNvPr name="Freeform 9" id="9"/>
            <p:cNvSpPr/>
            <p:nvPr/>
          </p:nvSpPr>
          <p:spPr>
            <a:xfrm flipH="false" flipV="false" rot="0">
              <a:off x="0" y="0"/>
              <a:ext cx="1166322" cy="279681"/>
            </a:xfrm>
            <a:custGeom>
              <a:avLst/>
              <a:gdLst/>
              <a:ahLst/>
              <a:cxnLst/>
              <a:rect r="r" b="b" t="t" l="l"/>
              <a:pathLst>
                <a:path h="279681" w="1166322">
                  <a:moveTo>
                    <a:pt x="68977" y="0"/>
                  </a:moveTo>
                  <a:lnTo>
                    <a:pt x="1097345" y="0"/>
                  </a:lnTo>
                  <a:cubicBezTo>
                    <a:pt x="1135440" y="0"/>
                    <a:pt x="1166322" y="30882"/>
                    <a:pt x="1166322" y="68977"/>
                  </a:cubicBezTo>
                  <a:lnTo>
                    <a:pt x="1166322" y="210704"/>
                  </a:lnTo>
                  <a:cubicBezTo>
                    <a:pt x="1166322" y="228998"/>
                    <a:pt x="1159055" y="246542"/>
                    <a:pt x="1146119" y="259478"/>
                  </a:cubicBezTo>
                  <a:cubicBezTo>
                    <a:pt x="1133184" y="272414"/>
                    <a:pt x="1115639" y="279681"/>
                    <a:pt x="1097345" y="279681"/>
                  </a:cubicBezTo>
                  <a:lnTo>
                    <a:pt x="68977" y="279681"/>
                  </a:lnTo>
                  <a:cubicBezTo>
                    <a:pt x="50683" y="279681"/>
                    <a:pt x="33139" y="272414"/>
                    <a:pt x="20203" y="259478"/>
                  </a:cubicBezTo>
                  <a:cubicBezTo>
                    <a:pt x="7267" y="246542"/>
                    <a:pt x="0" y="228998"/>
                    <a:pt x="0" y="210704"/>
                  </a:cubicBezTo>
                  <a:lnTo>
                    <a:pt x="0" y="68977"/>
                  </a:lnTo>
                  <a:cubicBezTo>
                    <a:pt x="0" y="50683"/>
                    <a:pt x="7267" y="33139"/>
                    <a:pt x="20203" y="20203"/>
                  </a:cubicBezTo>
                  <a:cubicBezTo>
                    <a:pt x="33139" y="7267"/>
                    <a:pt x="50683" y="0"/>
                    <a:pt x="68977" y="0"/>
                  </a:cubicBezTo>
                  <a:close/>
                </a:path>
              </a:pathLst>
            </a:custGeom>
            <a:gradFill rotWithShape="true">
              <a:gsLst>
                <a:gs pos="0">
                  <a:srgbClr val="596615">
                    <a:alpha val="100000"/>
                  </a:srgbClr>
                </a:gs>
                <a:gs pos="100000">
                  <a:srgbClr val="596614">
                    <a:alpha val="0"/>
                  </a:srgbClr>
                </a:gs>
              </a:gsLst>
              <a:lin ang="0"/>
            </a:gradFill>
          </p:spPr>
        </p:sp>
        <p:sp>
          <p:nvSpPr>
            <p:cNvPr name="TextBox 10" id="10"/>
            <p:cNvSpPr txBox="true"/>
            <p:nvPr/>
          </p:nvSpPr>
          <p:spPr>
            <a:xfrm>
              <a:off x="0" y="-47625"/>
              <a:ext cx="1166322" cy="327306"/>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9908796" y="2184491"/>
            <a:ext cx="2790904" cy="808001"/>
            <a:chOff x="0" y="0"/>
            <a:chExt cx="828610" cy="239893"/>
          </a:xfrm>
        </p:grpSpPr>
        <p:sp>
          <p:nvSpPr>
            <p:cNvPr name="Freeform 12" id="12"/>
            <p:cNvSpPr/>
            <p:nvPr/>
          </p:nvSpPr>
          <p:spPr>
            <a:xfrm flipH="false" flipV="false" rot="0">
              <a:off x="0" y="0"/>
              <a:ext cx="828610" cy="239893"/>
            </a:xfrm>
            <a:custGeom>
              <a:avLst/>
              <a:gdLst/>
              <a:ahLst/>
              <a:cxnLst/>
              <a:rect r="r" b="b" t="t" l="l"/>
              <a:pathLst>
                <a:path h="239893" w="828610">
                  <a:moveTo>
                    <a:pt x="55480" y="0"/>
                  </a:moveTo>
                  <a:lnTo>
                    <a:pt x="773130" y="0"/>
                  </a:lnTo>
                  <a:cubicBezTo>
                    <a:pt x="787844" y="0"/>
                    <a:pt x="801956" y="5845"/>
                    <a:pt x="812360" y="16250"/>
                  </a:cubicBezTo>
                  <a:cubicBezTo>
                    <a:pt x="822765" y="26654"/>
                    <a:pt x="828610" y="40766"/>
                    <a:pt x="828610" y="55480"/>
                  </a:cubicBezTo>
                  <a:lnTo>
                    <a:pt x="828610" y="184413"/>
                  </a:lnTo>
                  <a:cubicBezTo>
                    <a:pt x="828610" y="199127"/>
                    <a:pt x="822765" y="213239"/>
                    <a:pt x="812360" y="223643"/>
                  </a:cubicBezTo>
                  <a:cubicBezTo>
                    <a:pt x="801956" y="234048"/>
                    <a:pt x="787844" y="239893"/>
                    <a:pt x="773130" y="239893"/>
                  </a:cubicBezTo>
                  <a:lnTo>
                    <a:pt x="55480" y="239893"/>
                  </a:lnTo>
                  <a:cubicBezTo>
                    <a:pt x="40766" y="239893"/>
                    <a:pt x="26654" y="234048"/>
                    <a:pt x="16250" y="223643"/>
                  </a:cubicBezTo>
                  <a:cubicBezTo>
                    <a:pt x="5845" y="213239"/>
                    <a:pt x="0" y="199127"/>
                    <a:pt x="0" y="184413"/>
                  </a:cubicBezTo>
                  <a:lnTo>
                    <a:pt x="0" y="55480"/>
                  </a:lnTo>
                  <a:cubicBezTo>
                    <a:pt x="0" y="40766"/>
                    <a:pt x="5845" y="26654"/>
                    <a:pt x="16250" y="16250"/>
                  </a:cubicBezTo>
                  <a:cubicBezTo>
                    <a:pt x="26654" y="5845"/>
                    <a:pt x="40766" y="0"/>
                    <a:pt x="55480" y="0"/>
                  </a:cubicBezTo>
                  <a:close/>
                </a:path>
              </a:pathLst>
            </a:custGeom>
            <a:gradFill rotWithShape="true">
              <a:gsLst>
                <a:gs pos="0">
                  <a:srgbClr val="596615">
                    <a:alpha val="100000"/>
                  </a:srgbClr>
                </a:gs>
                <a:gs pos="100000">
                  <a:srgbClr val="7E9218">
                    <a:alpha val="100000"/>
                  </a:srgbClr>
                </a:gs>
              </a:gsLst>
              <a:lin ang="0"/>
            </a:gradFill>
          </p:spPr>
        </p:sp>
        <p:sp>
          <p:nvSpPr>
            <p:cNvPr name="TextBox 13" id="13"/>
            <p:cNvSpPr txBox="true"/>
            <p:nvPr/>
          </p:nvSpPr>
          <p:spPr>
            <a:xfrm>
              <a:off x="0" y="-47625"/>
              <a:ext cx="828610" cy="287518"/>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9908796" y="3478267"/>
            <a:ext cx="2790904" cy="808001"/>
            <a:chOff x="0" y="0"/>
            <a:chExt cx="828610" cy="239893"/>
          </a:xfrm>
        </p:grpSpPr>
        <p:sp>
          <p:nvSpPr>
            <p:cNvPr name="Freeform 15" id="15"/>
            <p:cNvSpPr/>
            <p:nvPr/>
          </p:nvSpPr>
          <p:spPr>
            <a:xfrm flipH="false" flipV="false" rot="0">
              <a:off x="0" y="0"/>
              <a:ext cx="828610" cy="239893"/>
            </a:xfrm>
            <a:custGeom>
              <a:avLst/>
              <a:gdLst/>
              <a:ahLst/>
              <a:cxnLst/>
              <a:rect r="r" b="b" t="t" l="l"/>
              <a:pathLst>
                <a:path h="239893" w="828610">
                  <a:moveTo>
                    <a:pt x="55480" y="0"/>
                  </a:moveTo>
                  <a:lnTo>
                    <a:pt x="773130" y="0"/>
                  </a:lnTo>
                  <a:cubicBezTo>
                    <a:pt x="787844" y="0"/>
                    <a:pt x="801956" y="5845"/>
                    <a:pt x="812360" y="16250"/>
                  </a:cubicBezTo>
                  <a:cubicBezTo>
                    <a:pt x="822765" y="26654"/>
                    <a:pt x="828610" y="40766"/>
                    <a:pt x="828610" y="55480"/>
                  </a:cubicBezTo>
                  <a:lnTo>
                    <a:pt x="828610" y="184413"/>
                  </a:lnTo>
                  <a:cubicBezTo>
                    <a:pt x="828610" y="199127"/>
                    <a:pt x="822765" y="213239"/>
                    <a:pt x="812360" y="223643"/>
                  </a:cubicBezTo>
                  <a:cubicBezTo>
                    <a:pt x="801956" y="234048"/>
                    <a:pt x="787844" y="239893"/>
                    <a:pt x="773130" y="239893"/>
                  </a:cubicBezTo>
                  <a:lnTo>
                    <a:pt x="55480" y="239893"/>
                  </a:lnTo>
                  <a:cubicBezTo>
                    <a:pt x="40766" y="239893"/>
                    <a:pt x="26654" y="234048"/>
                    <a:pt x="16250" y="223643"/>
                  </a:cubicBezTo>
                  <a:cubicBezTo>
                    <a:pt x="5845" y="213239"/>
                    <a:pt x="0" y="199127"/>
                    <a:pt x="0" y="184413"/>
                  </a:cubicBezTo>
                  <a:lnTo>
                    <a:pt x="0" y="55480"/>
                  </a:lnTo>
                  <a:cubicBezTo>
                    <a:pt x="0" y="40766"/>
                    <a:pt x="5845" y="26654"/>
                    <a:pt x="16250" y="16250"/>
                  </a:cubicBezTo>
                  <a:cubicBezTo>
                    <a:pt x="26654" y="5845"/>
                    <a:pt x="40766" y="0"/>
                    <a:pt x="55480" y="0"/>
                  </a:cubicBezTo>
                  <a:close/>
                </a:path>
              </a:pathLst>
            </a:custGeom>
            <a:gradFill rotWithShape="true">
              <a:gsLst>
                <a:gs pos="0">
                  <a:srgbClr val="596615">
                    <a:alpha val="100000"/>
                  </a:srgbClr>
                </a:gs>
                <a:gs pos="100000">
                  <a:srgbClr val="7E9218">
                    <a:alpha val="100000"/>
                  </a:srgbClr>
                </a:gs>
              </a:gsLst>
              <a:lin ang="0"/>
            </a:gradFill>
          </p:spPr>
        </p:sp>
        <p:sp>
          <p:nvSpPr>
            <p:cNvPr name="TextBox 16" id="16"/>
            <p:cNvSpPr txBox="true"/>
            <p:nvPr/>
          </p:nvSpPr>
          <p:spPr>
            <a:xfrm>
              <a:off x="0" y="-47625"/>
              <a:ext cx="828610" cy="287518"/>
            </a:xfrm>
            <a:prstGeom prst="rect">
              <a:avLst/>
            </a:prstGeom>
          </p:spPr>
          <p:txBody>
            <a:bodyPr anchor="ctr" rtlCol="false" tIns="50800" lIns="50800" bIns="50800" rIns="50800"/>
            <a:lstStyle/>
            <a:p>
              <a:pPr algn="ctr">
                <a:lnSpc>
                  <a:spcPts val="2800"/>
                </a:lnSpc>
              </a:pPr>
            </a:p>
          </p:txBody>
        </p:sp>
      </p:grpSp>
      <p:grpSp>
        <p:nvGrpSpPr>
          <p:cNvPr name="Group 17" id="17"/>
          <p:cNvGrpSpPr/>
          <p:nvPr/>
        </p:nvGrpSpPr>
        <p:grpSpPr>
          <a:xfrm rot="0">
            <a:off x="9908796" y="4772042"/>
            <a:ext cx="2790904" cy="808001"/>
            <a:chOff x="0" y="0"/>
            <a:chExt cx="828610" cy="239893"/>
          </a:xfrm>
        </p:grpSpPr>
        <p:sp>
          <p:nvSpPr>
            <p:cNvPr name="Freeform 18" id="18"/>
            <p:cNvSpPr/>
            <p:nvPr/>
          </p:nvSpPr>
          <p:spPr>
            <a:xfrm flipH="false" flipV="false" rot="0">
              <a:off x="0" y="0"/>
              <a:ext cx="828610" cy="239893"/>
            </a:xfrm>
            <a:custGeom>
              <a:avLst/>
              <a:gdLst/>
              <a:ahLst/>
              <a:cxnLst/>
              <a:rect r="r" b="b" t="t" l="l"/>
              <a:pathLst>
                <a:path h="239893" w="828610">
                  <a:moveTo>
                    <a:pt x="55480" y="0"/>
                  </a:moveTo>
                  <a:lnTo>
                    <a:pt x="773130" y="0"/>
                  </a:lnTo>
                  <a:cubicBezTo>
                    <a:pt x="787844" y="0"/>
                    <a:pt x="801956" y="5845"/>
                    <a:pt x="812360" y="16250"/>
                  </a:cubicBezTo>
                  <a:cubicBezTo>
                    <a:pt x="822765" y="26654"/>
                    <a:pt x="828610" y="40766"/>
                    <a:pt x="828610" y="55480"/>
                  </a:cubicBezTo>
                  <a:lnTo>
                    <a:pt x="828610" y="184413"/>
                  </a:lnTo>
                  <a:cubicBezTo>
                    <a:pt x="828610" y="199127"/>
                    <a:pt x="822765" y="213239"/>
                    <a:pt x="812360" y="223643"/>
                  </a:cubicBezTo>
                  <a:cubicBezTo>
                    <a:pt x="801956" y="234048"/>
                    <a:pt x="787844" y="239893"/>
                    <a:pt x="773130" y="239893"/>
                  </a:cubicBezTo>
                  <a:lnTo>
                    <a:pt x="55480" y="239893"/>
                  </a:lnTo>
                  <a:cubicBezTo>
                    <a:pt x="40766" y="239893"/>
                    <a:pt x="26654" y="234048"/>
                    <a:pt x="16250" y="223643"/>
                  </a:cubicBezTo>
                  <a:cubicBezTo>
                    <a:pt x="5845" y="213239"/>
                    <a:pt x="0" y="199127"/>
                    <a:pt x="0" y="184413"/>
                  </a:cubicBezTo>
                  <a:lnTo>
                    <a:pt x="0" y="55480"/>
                  </a:lnTo>
                  <a:cubicBezTo>
                    <a:pt x="0" y="40766"/>
                    <a:pt x="5845" y="26654"/>
                    <a:pt x="16250" y="16250"/>
                  </a:cubicBezTo>
                  <a:cubicBezTo>
                    <a:pt x="26654" y="5845"/>
                    <a:pt x="40766" y="0"/>
                    <a:pt x="55480" y="0"/>
                  </a:cubicBezTo>
                  <a:close/>
                </a:path>
              </a:pathLst>
            </a:custGeom>
            <a:gradFill rotWithShape="true">
              <a:gsLst>
                <a:gs pos="0">
                  <a:srgbClr val="596615">
                    <a:alpha val="100000"/>
                  </a:srgbClr>
                </a:gs>
                <a:gs pos="100000">
                  <a:srgbClr val="7E9218">
                    <a:alpha val="100000"/>
                  </a:srgbClr>
                </a:gs>
              </a:gsLst>
              <a:lin ang="0"/>
            </a:gradFill>
          </p:spPr>
        </p:sp>
        <p:sp>
          <p:nvSpPr>
            <p:cNvPr name="TextBox 19" id="19"/>
            <p:cNvSpPr txBox="true"/>
            <p:nvPr/>
          </p:nvSpPr>
          <p:spPr>
            <a:xfrm>
              <a:off x="0" y="-47625"/>
              <a:ext cx="828610" cy="287518"/>
            </a:xfrm>
            <a:prstGeom prst="rect">
              <a:avLst/>
            </a:prstGeom>
          </p:spPr>
          <p:txBody>
            <a:bodyPr anchor="ctr" rtlCol="false" tIns="50800" lIns="50800" bIns="50800" rIns="50800"/>
            <a:lstStyle/>
            <a:p>
              <a:pPr algn="ctr">
                <a:lnSpc>
                  <a:spcPts val="2800"/>
                </a:lnSpc>
              </a:pPr>
            </a:p>
          </p:txBody>
        </p:sp>
      </p:grpSp>
      <p:grpSp>
        <p:nvGrpSpPr>
          <p:cNvPr name="Group 20" id="20"/>
          <p:cNvGrpSpPr/>
          <p:nvPr/>
        </p:nvGrpSpPr>
        <p:grpSpPr>
          <a:xfrm rot="0">
            <a:off x="464734" y="603722"/>
            <a:ext cx="17358533" cy="849956"/>
            <a:chOff x="0" y="0"/>
            <a:chExt cx="23144711" cy="1133274"/>
          </a:xfrm>
        </p:grpSpPr>
        <p:grpSp>
          <p:nvGrpSpPr>
            <p:cNvPr name="Group 21" id="21"/>
            <p:cNvGrpSpPr/>
            <p:nvPr/>
          </p:nvGrpSpPr>
          <p:grpSpPr>
            <a:xfrm rot="0">
              <a:off x="0" y="0"/>
              <a:ext cx="23144711" cy="1133274"/>
              <a:chOff x="0" y="0"/>
              <a:chExt cx="4571795" cy="223857"/>
            </a:xfrm>
          </p:grpSpPr>
          <p:sp>
            <p:nvSpPr>
              <p:cNvPr name="Freeform 22" id="22"/>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23" id="23"/>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26" id="26"/>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sp>
        <p:nvSpPr>
          <p:cNvPr name="TextBox 27" id="27"/>
          <p:cNvSpPr txBox="true"/>
          <p:nvPr/>
        </p:nvSpPr>
        <p:spPr>
          <a:xfrm rot="0">
            <a:off x="1617745" y="2117321"/>
            <a:ext cx="7086822" cy="1466850"/>
          </a:xfrm>
          <a:prstGeom prst="rect">
            <a:avLst/>
          </a:prstGeom>
        </p:spPr>
        <p:txBody>
          <a:bodyPr anchor="t" rtlCol="false" tIns="0" lIns="0" bIns="0" rIns="0">
            <a:spAutoFit/>
          </a:bodyPr>
          <a:lstStyle/>
          <a:p>
            <a:pPr algn="l" marL="0" indent="0" lvl="0">
              <a:lnSpc>
                <a:spcPts val="5700"/>
              </a:lnSpc>
            </a:pPr>
            <a:r>
              <a:rPr lang="en-US" b="true" sz="5000">
                <a:solidFill>
                  <a:srgbClr val="82961B"/>
                </a:solidFill>
                <a:latin typeface="TT Hoves Bold"/>
                <a:ea typeface="TT Hoves Bold"/>
                <a:cs typeface="TT Hoves Bold"/>
                <a:sym typeface="TT Hoves Bold"/>
              </a:rPr>
              <a:t>Metode Pemodelan Teori Graf</a:t>
            </a:r>
          </a:p>
        </p:txBody>
      </p:sp>
      <p:sp>
        <p:nvSpPr>
          <p:cNvPr name="TextBox 28" id="28"/>
          <p:cNvSpPr txBox="true"/>
          <p:nvPr/>
        </p:nvSpPr>
        <p:spPr>
          <a:xfrm rot="0">
            <a:off x="12914619" y="2222096"/>
            <a:ext cx="3596792" cy="701675"/>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direpresentasikan sebagai halte pada jaringan Trans Jatim.</a:t>
            </a:r>
          </a:p>
        </p:txBody>
      </p:sp>
      <p:sp>
        <p:nvSpPr>
          <p:cNvPr name="TextBox 29" id="29"/>
          <p:cNvSpPr txBox="true"/>
          <p:nvPr/>
        </p:nvSpPr>
        <p:spPr>
          <a:xfrm rot="0">
            <a:off x="10071124" y="2361796"/>
            <a:ext cx="2466248" cy="422275"/>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FFFFFF"/>
                </a:solidFill>
                <a:latin typeface="TT Hoves Bold"/>
                <a:ea typeface="TT Hoves Bold"/>
                <a:cs typeface="TT Hoves Bold"/>
                <a:sym typeface="TT Hoves Bold"/>
              </a:rPr>
              <a:t>Node</a:t>
            </a:r>
          </a:p>
        </p:txBody>
      </p:sp>
      <p:sp>
        <p:nvSpPr>
          <p:cNvPr name="TextBox 30" id="30"/>
          <p:cNvSpPr txBox="true"/>
          <p:nvPr/>
        </p:nvSpPr>
        <p:spPr>
          <a:xfrm rot="0">
            <a:off x="12914619" y="3339660"/>
            <a:ext cx="3596792" cy="1054100"/>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menggambarkan koneksi atau lintasan antarhalte sesuai urutan rute layanan.</a:t>
            </a:r>
          </a:p>
        </p:txBody>
      </p:sp>
      <p:sp>
        <p:nvSpPr>
          <p:cNvPr name="TextBox 31" id="31"/>
          <p:cNvSpPr txBox="true"/>
          <p:nvPr/>
        </p:nvSpPr>
        <p:spPr>
          <a:xfrm rot="0">
            <a:off x="10071124" y="3655572"/>
            <a:ext cx="2466248" cy="422275"/>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FFFFFF"/>
                </a:solidFill>
                <a:latin typeface="TT Hoves Bold"/>
                <a:ea typeface="TT Hoves Bold"/>
                <a:cs typeface="TT Hoves Bold"/>
                <a:sym typeface="TT Hoves Bold"/>
              </a:rPr>
              <a:t>Edge</a:t>
            </a:r>
          </a:p>
        </p:txBody>
      </p:sp>
      <p:sp>
        <p:nvSpPr>
          <p:cNvPr name="TextBox 32" id="32"/>
          <p:cNvSpPr txBox="true"/>
          <p:nvPr/>
        </p:nvSpPr>
        <p:spPr>
          <a:xfrm rot="0">
            <a:off x="12914619" y="4633435"/>
            <a:ext cx="3596792" cy="1054100"/>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dimodelkan sebagai directed graph karena alur perjalanan memiliki arah tertentu.</a:t>
            </a:r>
          </a:p>
        </p:txBody>
      </p:sp>
      <p:sp>
        <p:nvSpPr>
          <p:cNvPr name="TextBox 33" id="33"/>
          <p:cNvSpPr txBox="true"/>
          <p:nvPr/>
        </p:nvSpPr>
        <p:spPr>
          <a:xfrm rot="0">
            <a:off x="10071124" y="4949348"/>
            <a:ext cx="2466248" cy="422275"/>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FFFFFF"/>
                </a:solidFill>
                <a:latin typeface="TT Hoves Bold"/>
                <a:ea typeface="TT Hoves Bold"/>
                <a:cs typeface="TT Hoves Bold"/>
                <a:sym typeface="TT Hoves Bold"/>
              </a:rPr>
              <a:t>Graf</a:t>
            </a:r>
          </a:p>
        </p:txBody>
      </p:sp>
      <p:sp>
        <p:nvSpPr>
          <p:cNvPr name="TextBox 34" id="34"/>
          <p:cNvSpPr txBox="true"/>
          <p:nvPr/>
        </p:nvSpPr>
        <p:spPr>
          <a:xfrm rot="0">
            <a:off x="9908796" y="6503008"/>
            <a:ext cx="7010509" cy="701675"/>
          </a:xfrm>
          <a:prstGeom prst="rect">
            <a:avLst/>
          </a:prstGeom>
        </p:spPr>
        <p:txBody>
          <a:bodyPr anchor="t" rtlCol="false" tIns="0" lIns="0" bIns="0" rIns="0">
            <a:spAutoFit/>
          </a:bodyPr>
          <a:lstStyle/>
          <a:p>
            <a:pPr algn="just" marL="0" indent="0" lvl="0">
              <a:lnSpc>
                <a:spcPts val="2800"/>
              </a:lnSpc>
              <a:spcBef>
                <a:spcPct val="0"/>
              </a:spcBef>
            </a:pPr>
            <a:r>
              <a:rPr lang="en-US" b="true" sz="2000">
                <a:solidFill>
                  <a:srgbClr val="FFFFFF"/>
                </a:solidFill>
                <a:latin typeface="TT Hoves Bold"/>
                <a:ea typeface="TT Hoves Bold"/>
                <a:cs typeface="TT Hoves Bold"/>
                <a:sym typeface="TT Hoves Bold"/>
              </a:rPr>
              <a:t>Struktur graf dibangun menggunakan adjacency list (efisien) dan adjacency matrix (analisis keterhubungan).</a:t>
            </a:r>
          </a:p>
        </p:txBody>
      </p:sp>
      <p:sp>
        <p:nvSpPr>
          <p:cNvPr name="TextBox 35" id="35"/>
          <p:cNvSpPr txBox="true"/>
          <p:nvPr/>
        </p:nvSpPr>
        <p:spPr>
          <a:xfrm rot="0">
            <a:off x="9908796" y="7480908"/>
            <a:ext cx="7010509" cy="1054100"/>
          </a:xfrm>
          <a:prstGeom prst="rect">
            <a:avLst/>
          </a:prstGeom>
        </p:spPr>
        <p:txBody>
          <a:bodyPr anchor="t" rtlCol="false" tIns="0" lIns="0" bIns="0" rIns="0">
            <a:spAutoFit/>
          </a:bodyPr>
          <a:lstStyle/>
          <a:p>
            <a:pPr algn="just" marL="0" indent="0" lvl="0">
              <a:lnSpc>
                <a:spcPts val="2800"/>
              </a:lnSpc>
              <a:spcBef>
                <a:spcPct val="0"/>
              </a:spcBef>
            </a:pPr>
            <a:r>
              <a:rPr lang="en-US" b="true" sz="2000">
                <a:solidFill>
                  <a:srgbClr val="FFFFFF"/>
                </a:solidFill>
                <a:latin typeface="TT Hoves Bold"/>
                <a:ea typeface="TT Hoves Bold"/>
                <a:cs typeface="TT Hoves Bold"/>
                <a:sym typeface="TT Hoves Bold"/>
              </a:rPr>
              <a:t>Pemodelan jaringan dilakukan dengan Python menggunakan NetworkX, dan visualisasi rute dibuat dengan Matplotlib.</a:t>
            </a:r>
          </a:p>
        </p:txBody>
      </p:sp>
      <p:grpSp>
        <p:nvGrpSpPr>
          <p:cNvPr name="Group 36" id="36"/>
          <p:cNvGrpSpPr/>
          <p:nvPr/>
        </p:nvGrpSpPr>
        <p:grpSpPr>
          <a:xfrm rot="0">
            <a:off x="15465057" y="8882367"/>
            <a:ext cx="1794243" cy="751867"/>
            <a:chOff x="0" y="0"/>
            <a:chExt cx="969826" cy="406400"/>
          </a:xfrm>
        </p:grpSpPr>
        <p:sp>
          <p:nvSpPr>
            <p:cNvPr name="Freeform 37" id="37"/>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38" id="38"/>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39" id="39"/>
          <p:cNvGrpSpPr/>
          <p:nvPr/>
        </p:nvGrpSpPr>
        <p:grpSpPr>
          <a:xfrm rot="0">
            <a:off x="1856544" y="8506433"/>
            <a:ext cx="3635249" cy="751867"/>
            <a:chOff x="0" y="0"/>
            <a:chExt cx="4846999" cy="1002489"/>
          </a:xfrm>
        </p:grpSpPr>
        <p:grpSp>
          <p:nvGrpSpPr>
            <p:cNvPr name="Group 40" id="40"/>
            <p:cNvGrpSpPr/>
            <p:nvPr/>
          </p:nvGrpSpPr>
          <p:grpSpPr>
            <a:xfrm rot="0">
              <a:off x="0" y="0"/>
              <a:ext cx="4846999" cy="1002489"/>
              <a:chOff x="0" y="0"/>
              <a:chExt cx="1964929" cy="406400"/>
            </a:xfrm>
          </p:grpSpPr>
          <p:sp>
            <p:nvSpPr>
              <p:cNvPr name="Freeform 41" id="41"/>
              <p:cNvSpPr/>
              <p:nvPr/>
            </p:nvSpPr>
            <p:spPr>
              <a:xfrm flipH="false" flipV="false" rot="0">
                <a:off x="0" y="0"/>
                <a:ext cx="1964929" cy="406400"/>
              </a:xfrm>
              <a:custGeom>
                <a:avLst/>
                <a:gdLst/>
                <a:ahLst/>
                <a:cxnLst/>
                <a:rect r="r" b="b" t="t" l="l"/>
                <a:pathLst>
                  <a:path h="406400" w="1964929">
                    <a:moveTo>
                      <a:pt x="1761729" y="0"/>
                    </a:moveTo>
                    <a:cubicBezTo>
                      <a:pt x="1873954" y="0"/>
                      <a:pt x="1964929" y="90976"/>
                      <a:pt x="1964929" y="203200"/>
                    </a:cubicBezTo>
                    <a:cubicBezTo>
                      <a:pt x="1964929" y="315424"/>
                      <a:pt x="1873954" y="406400"/>
                      <a:pt x="176172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42" id="42"/>
              <p:cNvSpPr txBox="true"/>
              <p:nvPr/>
            </p:nvSpPr>
            <p:spPr>
              <a:xfrm>
                <a:off x="0" y="-47625"/>
                <a:ext cx="1964929" cy="454025"/>
              </a:xfrm>
              <a:prstGeom prst="rect">
                <a:avLst/>
              </a:prstGeom>
            </p:spPr>
            <p:txBody>
              <a:bodyPr anchor="ctr" rtlCol="false" tIns="50800" lIns="50800" bIns="50800" rIns="50800"/>
              <a:lstStyle/>
              <a:p>
                <a:pPr algn="ctr">
                  <a:lnSpc>
                    <a:spcPts val="2800"/>
                  </a:lnSpc>
                </a:pPr>
              </a:p>
            </p:txBody>
          </p:sp>
        </p:grpSp>
        <p:sp>
          <p:nvSpPr>
            <p:cNvPr name="AutoShape 43" id="43"/>
            <p:cNvSpPr/>
            <p:nvPr/>
          </p:nvSpPr>
          <p:spPr>
            <a:xfrm>
              <a:off x="3017035" y="501245"/>
              <a:ext cx="1396700" cy="0"/>
            </a:xfrm>
            <a:prstGeom prst="line">
              <a:avLst/>
            </a:prstGeom>
            <a:ln cap="flat" w="25400">
              <a:solidFill>
                <a:srgbClr val="FFFFFF"/>
              </a:solidFill>
              <a:prstDash val="solid"/>
              <a:headEnd type="none" len="sm" w="sm"/>
              <a:tailEnd type="arrow" len="sm" w="med"/>
            </a:ln>
          </p:spPr>
        </p:sp>
        <p:sp>
          <p:nvSpPr>
            <p:cNvPr name="TextBox 44" id="44"/>
            <p:cNvSpPr txBox="true"/>
            <p:nvPr/>
          </p:nvSpPr>
          <p:spPr>
            <a:xfrm rot="0">
              <a:off x="664008" y="252536"/>
              <a:ext cx="2271839" cy="4497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NEXT SLIDE</a:t>
              </a:r>
            </a:p>
          </p:txBody>
        </p:sp>
      </p:grpSp>
      <p:sp>
        <p:nvSpPr>
          <p:cNvPr name="TextBox 45" id="45"/>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pic>
        <p:nvPicPr>
          <p:cNvPr name="Picture 6" id="6"/>
          <p:cNvPicPr>
            <a:picLocks noChangeAspect="true"/>
          </p:cNvPicPr>
          <p:nvPr/>
        </p:nvPicPr>
        <p:blipFill>
          <a:blip r:embed="rId3"/>
          <a:stretch>
            <a:fillRect/>
          </a:stretch>
        </p:blipFill>
        <p:spPr>
          <a:xfrm rot="0">
            <a:off x="3488886" y="1603712"/>
            <a:ext cx="11538534" cy="8431265"/>
          </a:xfrm>
          <a:prstGeom prst="rect">
            <a:avLst/>
          </a:prstGeom>
        </p:spPr>
      </p:pic>
      <p:sp>
        <p:nvSpPr>
          <p:cNvPr name="TextBox 7" id="7"/>
          <p:cNvSpPr txBox="true"/>
          <p:nvPr/>
        </p:nvSpPr>
        <p:spPr>
          <a:xfrm rot="0">
            <a:off x="5600618" y="1846739"/>
            <a:ext cx="7086765" cy="530111"/>
          </a:xfrm>
          <a:prstGeom prst="rect">
            <a:avLst/>
          </a:prstGeom>
        </p:spPr>
        <p:txBody>
          <a:bodyPr anchor="t" rtlCol="false" tIns="0" lIns="0" bIns="0" rIns="0">
            <a:spAutoFit/>
          </a:bodyPr>
          <a:lstStyle/>
          <a:p>
            <a:pPr algn="ctr">
              <a:lnSpc>
                <a:spcPts val="4302"/>
              </a:lnSpc>
              <a:spcBef>
                <a:spcPct val="0"/>
              </a:spcBef>
            </a:pPr>
            <a:r>
              <a:rPr lang="en-US" b="true" sz="3072">
                <a:solidFill>
                  <a:srgbClr val="82961B"/>
                </a:solidFill>
                <a:latin typeface="TT Hoves Bold"/>
                <a:ea typeface="TT Hoves Bold"/>
                <a:cs typeface="TT Hoves Bold"/>
                <a:sym typeface="TT Hoves Bold"/>
              </a:rPr>
              <a:t>Distribusi Total Penduduk Per Daerah </a:t>
            </a:r>
          </a:p>
        </p:txBody>
      </p:sp>
      <p:grpSp>
        <p:nvGrpSpPr>
          <p:cNvPr name="Group 8" id="8"/>
          <p:cNvGrpSpPr/>
          <p:nvPr/>
        </p:nvGrpSpPr>
        <p:grpSpPr>
          <a:xfrm rot="0">
            <a:off x="464734" y="603722"/>
            <a:ext cx="17358533" cy="849956"/>
            <a:chOff x="0" y="0"/>
            <a:chExt cx="23144711" cy="1133274"/>
          </a:xfrm>
        </p:grpSpPr>
        <p:grpSp>
          <p:nvGrpSpPr>
            <p:cNvPr name="Group 9" id="9"/>
            <p:cNvGrpSpPr/>
            <p:nvPr/>
          </p:nvGrpSpPr>
          <p:grpSpPr>
            <a:xfrm rot="0">
              <a:off x="0" y="0"/>
              <a:ext cx="23144711" cy="1133274"/>
              <a:chOff x="0" y="0"/>
              <a:chExt cx="4571795" cy="223857"/>
            </a:xfrm>
          </p:grpSpPr>
          <p:sp>
            <p:nvSpPr>
              <p:cNvPr name="Freeform 10" id="10"/>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11" id="11"/>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14" id="14"/>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grpSp>
        <p:nvGrpSpPr>
          <p:cNvPr name="Group 15" id="15"/>
          <p:cNvGrpSpPr/>
          <p:nvPr/>
        </p:nvGrpSpPr>
        <p:grpSpPr>
          <a:xfrm rot="0">
            <a:off x="15465057" y="8882367"/>
            <a:ext cx="1794243" cy="751867"/>
            <a:chOff x="0" y="0"/>
            <a:chExt cx="969826" cy="406400"/>
          </a:xfrm>
        </p:grpSpPr>
        <p:sp>
          <p:nvSpPr>
            <p:cNvPr name="Freeform 16" id="16"/>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17" id="17"/>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856544" y="8506433"/>
            <a:ext cx="3635249" cy="751867"/>
            <a:chOff x="0" y="0"/>
            <a:chExt cx="4846999" cy="1002489"/>
          </a:xfrm>
        </p:grpSpPr>
        <p:grpSp>
          <p:nvGrpSpPr>
            <p:cNvPr name="Group 19" id="19"/>
            <p:cNvGrpSpPr/>
            <p:nvPr/>
          </p:nvGrpSpPr>
          <p:grpSpPr>
            <a:xfrm rot="0">
              <a:off x="0" y="0"/>
              <a:ext cx="4846999" cy="1002489"/>
              <a:chOff x="0" y="0"/>
              <a:chExt cx="1964929" cy="406400"/>
            </a:xfrm>
          </p:grpSpPr>
          <p:sp>
            <p:nvSpPr>
              <p:cNvPr name="Freeform 20" id="20"/>
              <p:cNvSpPr/>
              <p:nvPr/>
            </p:nvSpPr>
            <p:spPr>
              <a:xfrm flipH="false" flipV="false" rot="0">
                <a:off x="0" y="0"/>
                <a:ext cx="1964929" cy="406400"/>
              </a:xfrm>
              <a:custGeom>
                <a:avLst/>
                <a:gdLst/>
                <a:ahLst/>
                <a:cxnLst/>
                <a:rect r="r" b="b" t="t" l="l"/>
                <a:pathLst>
                  <a:path h="406400" w="1964929">
                    <a:moveTo>
                      <a:pt x="1761729" y="0"/>
                    </a:moveTo>
                    <a:cubicBezTo>
                      <a:pt x="1873954" y="0"/>
                      <a:pt x="1964929" y="90976"/>
                      <a:pt x="1964929" y="203200"/>
                    </a:cubicBezTo>
                    <a:cubicBezTo>
                      <a:pt x="1964929" y="315424"/>
                      <a:pt x="1873954" y="406400"/>
                      <a:pt x="176172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21" id="21"/>
              <p:cNvSpPr txBox="true"/>
              <p:nvPr/>
            </p:nvSpPr>
            <p:spPr>
              <a:xfrm>
                <a:off x="0" y="-47625"/>
                <a:ext cx="1964929" cy="454025"/>
              </a:xfrm>
              <a:prstGeom prst="rect">
                <a:avLst/>
              </a:prstGeom>
            </p:spPr>
            <p:txBody>
              <a:bodyPr anchor="ctr" rtlCol="false" tIns="50800" lIns="50800" bIns="50800" rIns="50800"/>
              <a:lstStyle/>
              <a:p>
                <a:pPr algn="ctr">
                  <a:lnSpc>
                    <a:spcPts val="2800"/>
                  </a:lnSpc>
                </a:pPr>
              </a:p>
            </p:txBody>
          </p:sp>
        </p:grpSp>
        <p:sp>
          <p:nvSpPr>
            <p:cNvPr name="AutoShape 22" id="22"/>
            <p:cNvSpPr/>
            <p:nvPr/>
          </p:nvSpPr>
          <p:spPr>
            <a:xfrm>
              <a:off x="3017035" y="501245"/>
              <a:ext cx="1396700" cy="0"/>
            </a:xfrm>
            <a:prstGeom prst="line">
              <a:avLst/>
            </a:prstGeom>
            <a:ln cap="flat" w="25400">
              <a:solidFill>
                <a:srgbClr val="FFFFFF"/>
              </a:solidFill>
              <a:prstDash val="solid"/>
              <a:headEnd type="none" len="sm" w="sm"/>
              <a:tailEnd type="arrow" len="sm" w="med"/>
            </a:ln>
          </p:spPr>
        </p:sp>
        <p:sp>
          <p:nvSpPr>
            <p:cNvPr name="TextBox 23" id="23"/>
            <p:cNvSpPr txBox="true"/>
            <p:nvPr/>
          </p:nvSpPr>
          <p:spPr>
            <a:xfrm rot="0">
              <a:off x="664008" y="252536"/>
              <a:ext cx="2271839" cy="4497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NEXT SLIDE</a:t>
              </a:r>
            </a:p>
          </p:txBody>
        </p:sp>
      </p:grpSp>
      <p:sp>
        <p:nvSpPr>
          <p:cNvPr name="TextBox 24" id="24"/>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5345016" y="3006790"/>
            <a:ext cx="7597968" cy="5043151"/>
          </a:xfrm>
          <a:custGeom>
            <a:avLst/>
            <a:gdLst/>
            <a:ahLst/>
            <a:cxnLst/>
            <a:rect r="r" b="b" t="t" l="l"/>
            <a:pathLst>
              <a:path h="5043151" w="7597968">
                <a:moveTo>
                  <a:pt x="0" y="0"/>
                </a:moveTo>
                <a:lnTo>
                  <a:pt x="7597968" y="0"/>
                </a:lnTo>
                <a:lnTo>
                  <a:pt x="7597968" y="5043151"/>
                </a:lnTo>
                <a:lnTo>
                  <a:pt x="0" y="5043151"/>
                </a:lnTo>
                <a:lnTo>
                  <a:pt x="0" y="0"/>
                </a:lnTo>
                <a:close/>
              </a:path>
            </a:pathLst>
          </a:custGeom>
          <a:blipFill>
            <a:blip r:embed="rId3"/>
            <a:stretch>
              <a:fillRect l="0" t="0" r="0" b="0"/>
            </a:stretch>
          </a:blipFill>
        </p:spPr>
      </p:sp>
      <p:grpSp>
        <p:nvGrpSpPr>
          <p:cNvPr name="Group 7" id="7"/>
          <p:cNvGrpSpPr/>
          <p:nvPr/>
        </p:nvGrpSpPr>
        <p:grpSpPr>
          <a:xfrm rot="0">
            <a:off x="464734" y="603722"/>
            <a:ext cx="17358533" cy="849956"/>
            <a:chOff x="0" y="0"/>
            <a:chExt cx="23144711" cy="1133274"/>
          </a:xfrm>
        </p:grpSpPr>
        <p:grpSp>
          <p:nvGrpSpPr>
            <p:cNvPr name="Group 8" id="8"/>
            <p:cNvGrpSpPr/>
            <p:nvPr/>
          </p:nvGrpSpPr>
          <p:grpSpPr>
            <a:xfrm rot="0">
              <a:off x="0" y="0"/>
              <a:ext cx="23144711" cy="1133274"/>
              <a:chOff x="0" y="0"/>
              <a:chExt cx="4571795" cy="223857"/>
            </a:xfrm>
          </p:grpSpPr>
          <p:sp>
            <p:nvSpPr>
              <p:cNvPr name="Freeform 9" id="9"/>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10" id="10"/>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13" id="13"/>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sp>
        <p:nvSpPr>
          <p:cNvPr name="TextBox 14" id="14"/>
          <p:cNvSpPr txBox="true"/>
          <p:nvPr/>
        </p:nvSpPr>
        <p:spPr>
          <a:xfrm rot="0">
            <a:off x="3976836" y="2026423"/>
            <a:ext cx="10334327"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82961B"/>
                </a:solidFill>
                <a:latin typeface="TT Hoves Bold"/>
                <a:ea typeface="TT Hoves Bold"/>
                <a:cs typeface="TT Hoves Bold"/>
                <a:sym typeface="TT Hoves Bold"/>
              </a:rPr>
              <a:t>Jumlah Penduduk per Kecamatan di Kabupaten Jombang</a:t>
            </a:r>
          </a:p>
        </p:txBody>
      </p:sp>
      <p:grpSp>
        <p:nvGrpSpPr>
          <p:cNvPr name="Group 15" id="15"/>
          <p:cNvGrpSpPr/>
          <p:nvPr/>
        </p:nvGrpSpPr>
        <p:grpSpPr>
          <a:xfrm rot="0">
            <a:off x="15465057" y="8882367"/>
            <a:ext cx="1794243" cy="751867"/>
            <a:chOff x="0" y="0"/>
            <a:chExt cx="969826" cy="406400"/>
          </a:xfrm>
        </p:grpSpPr>
        <p:sp>
          <p:nvSpPr>
            <p:cNvPr name="Freeform 16" id="16"/>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17" id="17"/>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856544" y="8506433"/>
            <a:ext cx="3635249" cy="751867"/>
            <a:chOff x="0" y="0"/>
            <a:chExt cx="4846999" cy="1002489"/>
          </a:xfrm>
        </p:grpSpPr>
        <p:grpSp>
          <p:nvGrpSpPr>
            <p:cNvPr name="Group 19" id="19"/>
            <p:cNvGrpSpPr/>
            <p:nvPr/>
          </p:nvGrpSpPr>
          <p:grpSpPr>
            <a:xfrm rot="0">
              <a:off x="0" y="0"/>
              <a:ext cx="4846999" cy="1002489"/>
              <a:chOff x="0" y="0"/>
              <a:chExt cx="1964929" cy="406400"/>
            </a:xfrm>
          </p:grpSpPr>
          <p:sp>
            <p:nvSpPr>
              <p:cNvPr name="Freeform 20" id="20"/>
              <p:cNvSpPr/>
              <p:nvPr/>
            </p:nvSpPr>
            <p:spPr>
              <a:xfrm flipH="false" flipV="false" rot="0">
                <a:off x="0" y="0"/>
                <a:ext cx="1964929" cy="406400"/>
              </a:xfrm>
              <a:custGeom>
                <a:avLst/>
                <a:gdLst/>
                <a:ahLst/>
                <a:cxnLst/>
                <a:rect r="r" b="b" t="t" l="l"/>
                <a:pathLst>
                  <a:path h="406400" w="1964929">
                    <a:moveTo>
                      <a:pt x="1761729" y="0"/>
                    </a:moveTo>
                    <a:cubicBezTo>
                      <a:pt x="1873954" y="0"/>
                      <a:pt x="1964929" y="90976"/>
                      <a:pt x="1964929" y="203200"/>
                    </a:cubicBezTo>
                    <a:cubicBezTo>
                      <a:pt x="1964929" y="315424"/>
                      <a:pt x="1873954" y="406400"/>
                      <a:pt x="176172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21" id="21"/>
              <p:cNvSpPr txBox="true"/>
              <p:nvPr/>
            </p:nvSpPr>
            <p:spPr>
              <a:xfrm>
                <a:off x="0" y="-47625"/>
                <a:ext cx="1964929" cy="454025"/>
              </a:xfrm>
              <a:prstGeom prst="rect">
                <a:avLst/>
              </a:prstGeom>
            </p:spPr>
            <p:txBody>
              <a:bodyPr anchor="ctr" rtlCol="false" tIns="50800" lIns="50800" bIns="50800" rIns="50800"/>
              <a:lstStyle/>
              <a:p>
                <a:pPr algn="ctr">
                  <a:lnSpc>
                    <a:spcPts val="2800"/>
                  </a:lnSpc>
                </a:pPr>
              </a:p>
            </p:txBody>
          </p:sp>
        </p:grpSp>
        <p:sp>
          <p:nvSpPr>
            <p:cNvPr name="AutoShape 22" id="22"/>
            <p:cNvSpPr/>
            <p:nvPr/>
          </p:nvSpPr>
          <p:spPr>
            <a:xfrm>
              <a:off x="3017035" y="501245"/>
              <a:ext cx="1396700" cy="0"/>
            </a:xfrm>
            <a:prstGeom prst="line">
              <a:avLst/>
            </a:prstGeom>
            <a:ln cap="flat" w="25400">
              <a:solidFill>
                <a:srgbClr val="FFFFFF"/>
              </a:solidFill>
              <a:prstDash val="solid"/>
              <a:headEnd type="none" len="sm" w="sm"/>
              <a:tailEnd type="arrow" len="sm" w="med"/>
            </a:ln>
          </p:spPr>
        </p:sp>
        <p:sp>
          <p:nvSpPr>
            <p:cNvPr name="TextBox 23" id="23"/>
            <p:cNvSpPr txBox="true"/>
            <p:nvPr/>
          </p:nvSpPr>
          <p:spPr>
            <a:xfrm rot="0">
              <a:off x="664008" y="252536"/>
              <a:ext cx="2271839" cy="4497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NEXT SLIDE</a:t>
              </a:r>
            </a:p>
          </p:txBody>
        </p:sp>
      </p:grpSp>
      <p:sp>
        <p:nvSpPr>
          <p:cNvPr name="TextBox 24" id="24"/>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5490576" y="3019693"/>
            <a:ext cx="7306849" cy="4849921"/>
          </a:xfrm>
          <a:custGeom>
            <a:avLst/>
            <a:gdLst/>
            <a:ahLst/>
            <a:cxnLst/>
            <a:rect r="r" b="b" t="t" l="l"/>
            <a:pathLst>
              <a:path h="4849921" w="7306849">
                <a:moveTo>
                  <a:pt x="0" y="0"/>
                </a:moveTo>
                <a:lnTo>
                  <a:pt x="7306848" y="0"/>
                </a:lnTo>
                <a:lnTo>
                  <a:pt x="7306848" y="4849921"/>
                </a:lnTo>
                <a:lnTo>
                  <a:pt x="0" y="4849921"/>
                </a:lnTo>
                <a:lnTo>
                  <a:pt x="0" y="0"/>
                </a:lnTo>
                <a:close/>
              </a:path>
            </a:pathLst>
          </a:custGeom>
          <a:blipFill>
            <a:blip r:embed="rId3"/>
            <a:stretch>
              <a:fillRect l="0" t="0" r="0" b="0"/>
            </a:stretch>
          </a:blipFill>
        </p:spPr>
      </p:sp>
      <p:grpSp>
        <p:nvGrpSpPr>
          <p:cNvPr name="Group 7" id="7"/>
          <p:cNvGrpSpPr/>
          <p:nvPr/>
        </p:nvGrpSpPr>
        <p:grpSpPr>
          <a:xfrm rot="0">
            <a:off x="464734" y="603722"/>
            <a:ext cx="17358533" cy="849956"/>
            <a:chOff x="0" y="0"/>
            <a:chExt cx="23144711" cy="1133274"/>
          </a:xfrm>
        </p:grpSpPr>
        <p:grpSp>
          <p:nvGrpSpPr>
            <p:cNvPr name="Group 8" id="8"/>
            <p:cNvGrpSpPr/>
            <p:nvPr/>
          </p:nvGrpSpPr>
          <p:grpSpPr>
            <a:xfrm rot="0">
              <a:off x="0" y="0"/>
              <a:ext cx="23144711" cy="1133274"/>
              <a:chOff x="0" y="0"/>
              <a:chExt cx="4571795" cy="223857"/>
            </a:xfrm>
          </p:grpSpPr>
          <p:sp>
            <p:nvSpPr>
              <p:cNvPr name="Freeform 9" id="9"/>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10" id="10"/>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13" id="13"/>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sp>
        <p:nvSpPr>
          <p:cNvPr name="TextBox 14" id="14"/>
          <p:cNvSpPr txBox="true"/>
          <p:nvPr/>
        </p:nvSpPr>
        <p:spPr>
          <a:xfrm rot="0">
            <a:off x="3125585" y="1943368"/>
            <a:ext cx="12036830"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82961B"/>
                </a:solidFill>
                <a:latin typeface="TT Hoves Bold"/>
                <a:ea typeface="TT Hoves Bold"/>
                <a:cs typeface="TT Hoves Bold"/>
                <a:sym typeface="TT Hoves Bold"/>
              </a:rPr>
              <a:t>Jumlah Penduduk per Kecamatan di Kabupaten Sidoarjo</a:t>
            </a:r>
          </a:p>
        </p:txBody>
      </p:sp>
      <p:grpSp>
        <p:nvGrpSpPr>
          <p:cNvPr name="Group 15" id="15"/>
          <p:cNvGrpSpPr/>
          <p:nvPr/>
        </p:nvGrpSpPr>
        <p:grpSpPr>
          <a:xfrm rot="0">
            <a:off x="15465057" y="8882367"/>
            <a:ext cx="1794243" cy="751867"/>
            <a:chOff x="0" y="0"/>
            <a:chExt cx="969826" cy="406400"/>
          </a:xfrm>
        </p:grpSpPr>
        <p:sp>
          <p:nvSpPr>
            <p:cNvPr name="Freeform 16" id="16"/>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17" id="17"/>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856544" y="8506433"/>
            <a:ext cx="3635249" cy="751867"/>
            <a:chOff x="0" y="0"/>
            <a:chExt cx="4846999" cy="1002489"/>
          </a:xfrm>
        </p:grpSpPr>
        <p:grpSp>
          <p:nvGrpSpPr>
            <p:cNvPr name="Group 19" id="19"/>
            <p:cNvGrpSpPr/>
            <p:nvPr/>
          </p:nvGrpSpPr>
          <p:grpSpPr>
            <a:xfrm rot="0">
              <a:off x="0" y="0"/>
              <a:ext cx="4846999" cy="1002489"/>
              <a:chOff x="0" y="0"/>
              <a:chExt cx="1964929" cy="406400"/>
            </a:xfrm>
          </p:grpSpPr>
          <p:sp>
            <p:nvSpPr>
              <p:cNvPr name="Freeform 20" id="20"/>
              <p:cNvSpPr/>
              <p:nvPr/>
            </p:nvSpPr>
            <p:spPr>
              <a:xfrm flipH="false" flipV="false" rot="0">
                <a:off x="0" y="0"/>
                <a:ext cx="1964929" cy="406400"/>
              </a:xfrm>
              <a:custGeom>
                <a:avLst/>
                <a:gdLst/>
                <a:ahLst/>
                <a:cxnLst/>
                <a:rect r="r" b="b" t="t" l="l"/>
                <a:pathLst>
                  <a:path h="406400" w="1964929">
                    <a:moveTo>
                      <a:pt x="1761729" y="0"/>
                    </a:moveTo>
                    <a:cubicBezTo>
                      <a:pt x="1873954" y="0"/>
                      <a:pt x="1964929" y="90976"/>
                      <a:pt x="1964929" y="203200"/>
                    </a:cubicBezTo>
                    <a:cubicBezTo>
                      <a:pt x="1964929" y="315424"/>
                      <a:pt x="1873954" y="406400"/>
                      <a:pt x="176172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21" id="21"/>
              <p:cNvSpPr txBox="true"/>
              <p:nvPr/>
            </p:nvSpPr>
            <p:spPr>
              <a:xfrm>
                <a:off x="0" y="-47625"/>
                <a:ext cx="1964929" cy="454025"/>
              </a:xfrm>
              <a:prstGeom prst="rect">
                <a:avLst/>
              </a:prstGeom>
            </p:spPr>
            <p:txBody>
              <a:bodyPr anchor="ctr" rtlCol="false" tIns="50800" lIns="50800" bIns="50800" rIns="50800"/>
              <a:lstStyle/>
              <a:p>
                <a:pPr algn="ctr">
                  <a:lnSpc>
                    <a:spcPts val="2800"/>
                  </a:lnSpc>
                </a:pPr>
              </a:p>
            </p:txBody>
          </p:sp>
        </p:grpSp>
        <p:sp>
          <p:nvSpPr>
            <p:cNvPr name="AutoShape 22" id="22"/>
            <p:cNvSpPr/>
            <p:nvPr/>
          </p:nvSpPr>
          <p:spPr>
            <a:xfrm>
              <a:off x="3017035" y="501245"/>
              <a:ext cx="1396700" cy="0"/>
            </a:xfrm>
            <a:prstGeom prst="line">
              <a:avLst/>
            </a:prstGeom>
            <a:ln cap="flat" w="25400">
              <a:solidFill>
                <a:srgbClr val="FFFFFF"/>
              </a:solidFill>
              <a:prstDash val="solid"/>
              <a:headEnd type="none" len="sm" w="sm"/>
              <a:tailEnd type="arrow" len="sm" w="med"/>
            </a:ln>
          </p:spPr>
        </p:sp>
        <p:sp>
          <p:nvSpPr>
            <p:cNvPr name="TextBox 23" id="23"/>
            <p:cNvSpPr txBox="true"/>
            <p:nvPr/>
          </p:nvSpPr>
          <p:spPr>
            <a:xfrm rot="0">
              <a:off x="664008" y="252536"/>
              <a:ext cx="2271839" cy="4497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NEXT SLIDE</a:t>
              </a:r>
            </a:p>
          </p:txBody>
        </p:sp>
      </p:grpSp>
      <p:sp>
        <p:nvSpPr>
          <p:cNvPr name="TextBox 24" id="24"/>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5384513" y="3135204"/>
            <a:ext cx="7518974" cy="4990719"/>
          </a:xfrm>
          <a:custGeom>
            <a:avLst/>
            <a:gdLst/>
            <a:ahLst/>
            <a:cxnLst/>
            <a:rect r="r" b="b" t="t" l="l"/>
            <a:pathLst>
              <a:path h="4990719" w="7518974">
                <a:moveTo>
                  <a:pt x="0" y="0"/>
                </a:moveTo>
                <a:lnTo>
                  <a:pt x="7518974" y="0"/>
                </a:lnTo>
                <a:lnTo>
                  <a:pt x="7518974" y="4990720"/>
                </a:lnTo>
                <a:lnTo>
                  <a:pt x="0" y="4990720"/>
                </a:lnTo>
                <a:lnTo>
                  <a:pt x="0" y="0"/>
                </a:lnTo>
                <a:close/>
              </a:path>
            </a:pathLst>
          </a:custGeom>
          <a:blipFill>
            <a:blip r:embed="rId3"/>
            <a:stretch>
              <a:fillRect l="0" t="0" r="0" b="0"/>
            </a:stretch>
          </a:blipFill>
        </p:spPr>
      </p:sp>
      <p:grpSp>
        <p:nvGrpSpPr>
          <p:cNvPr name="Group 7" id="7"/>
          <p:cNvGrpSpPr/>
          <p:nvPr/>
        </p:nvGrpSpPr>
        <p:grpSpPr>
          <a:xfrm rot="0">
            <a:off x="464734" y="603722"/>
            <a:ext cx="17358533" cy="849956"/>
            <a:chOff x="0" y="0"/>
            <a:chExt cx="23144711" cy="1133274"/>
          </a:xfrm>
        </p:grpSpPr>
        <p:grpSp>
          <p:nvGrpSpPr>
            <p:cNvPr name="Group 8" id="8"/>
            <p:cNvGrpSpPr/>
            <p:nvPr/>
          </p:nvGrpSpPr>
          <p:grpSpPr>
            <a:xfrm rot="0">
              <a:off x="0" y="0"/>
              <a:ext cx="23144711" cy="1133274"/>
              <a:chOff x="0" y="0"/>
              <a:chExt cx="4571795" cy="223857"/>
            </a:xfrm>
          </p:grpSpPr>
          <p:sp>
            <p:nvSpPr>
              <p:cNvPr name="Freeform 9" id="9"/>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10" id="10"/>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13" id="13"/>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sp>
        <p:nvSpPr>
          <p:cNvPr name="TextBox 14" id="14"/>
          <p:cNvSpPr txBox="true"/>
          <p:nvPr/>
        </p:nvSpPr>
        <p:spPr>
          <a:xfrm rot="0">
            <a:off x="3792010" y="1805256"/>
            <a:ext cx="10703980"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82961B"/>
                </a:solidFill>
                <a:latin typeface="TT Hoves Bold"/>
                <a:ea typeface="TT Hoves Bold"/>
                <a:cs typeface="TT Hoves Bold"/>
                <a:sym typeface="TT Hoves Bold"/>
              </a:rPr>
              <a:t>Jumlah Penduduk per Kecamatan di Kabupaten Mojokerto</a:t>
            </a:r>
          </a:p>
        </p:txBody>
      </p:sp>
      <p:grpSp>
        <p:nvGrpSpPr>
          <p:cNvPr name="Group 15" id="15"/>
          <p:cNvGrpSpPr/>
          <p:nvPr/>
        </p:nvGrpSpPr>
        <p:grpSpPr>
          <a:xfrm rot="0">
            <a:off x="15465057" y="8882367"/>
            <a:ext cx="1794243" cy="751867"/>
            <a:chOff x="0" y="0"/>
            <a:chExt cx="969826" cy="406400"/>
          </a:xfrm>
        </p:grpSpPr>
        <p:sp>
          <p:nvSpPr>
            <p:cNvPr name="Freeform 16" id="16"/>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17" id="17"/>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856544" y="8506433"/>
            <a:ext cx="3635249" cy="751867"/>
            <a:chOff x="0" y="0"/>
            <a:chExt cx="4846999" cy="1002489"/>
          </a:xfrm>
        </p:grpSpPr>
        <p:grpSp>
          <p:nvGrpSpPr>
            <p:cNvPr name="Group 19" id="19"/>
            <p:cNvGrpSpPr/>
            <p:nvPr/>
          </p:nvGrpSpPr>
          <p:grpSpPr>
            <a:xfrm rot="0">
              <a:off x="0" y="0"/>
              <a:ext cx="4846999" cy="1002489"/>
              <a:chOff x="0" y="0"/>
              <a:chExt cx="1964929" cy="406400"/>
            </a:xfrm>
          </p:grpSpPr>
          <p:sp>
            <p:nvSpPr>
              <p:cNvPr name="Freeform 20" id="20"/>
              <p:cNvSpPr/>
              <p:nvPr/>
            </p:nvSpPr>
            <p:spPr>
              <a:xfrm flipH="false" flipV="false" rot="0">
                <a:off x="0" y="0"/>
                <a:ext cx="1964929" cy="406400"/>
              </a:xfrm>
              <a:custGeom>
                <a:avLst/>
                <a:gdLst/>
                <a:ahLst/>
                <a:cxnLst/>
                <a:rect r="r" b="b" t="t" l="l"/>
                <a:pathLst>
                  <a:path h="406400" w="1964929">
                    <a:moveTo>
                      <a:pt x="1761729" y="0"/>
                    </a:moveTo>
                    <a:cubicBezTo>
                      <a:pt x="1873954" y="0"/>
                      <a:pt x="1964929" y="90976"/>
                      <a:pt x="1964929" y="203200"/>
                    </a:cubicBezTo>
                    <a:cubicBezTo>
                      <a:pt x="1964929" y="315424"/>
                      <a:pt x="1873954" y="406400"/>
                      <a:pt x="176172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21" id="21"/>
              <p:cNvSpPr txBox="true"/>
              <p:nvPr/>
            </p:nvSpPr>
            <p:spPr>
              <a:xfrm>
                <a:off x="0" y="-47625"/>
                <a:ext cx="1964929" cy="454025"/>
              </a:xfrm>
              <a:prstGeom prst="rect">
                <a:avLst/>
              </a:prstGeom>
            </p:spPr>
            <p:txBody>
              <a:bodyPr anchor="ctr" rtlCol="false" tIns="50800" lIns="50800" bIns="50800" rIns="50800"/>
              <a:lstStyle/>
              <a:p>
                <a:pPr algn="ctr">
                  <a:lnSpc>
                    <a:spcPts val="2800"/>
                  </a:lnSpc>
                </a:pPr>
              </a:p>
            </p:txBody>
          </p:sp>
        </p:grpSp>
        <p:sp>
          <p:nvSpPr>
            <p:cNvPr name="AutoShape 22" id="22"/>
            <p:cNvSpPr/>
            <p:nvPr/>
          </p:nvSpPr>
          <p:spPr>
            <a:xfrm>
              <a:off x="3017035" y="501245"/>
              <a:ext cx="1396700" cy="0"/>
            </a:xfrm>
            <a:prstGeom prst="line">
              <a:avLst/>
            </a:prstGeom>
            <a:ln cap="flat" w="25400">
              <a:solidFill>
                <a:srgbClr val="FFFFFF"/>
              </a:solidFill>
              <a:prstDash val="solid"/>
              <a:headEnd type="none" len="sm" w="sm"/>
              <a:tailEnd type="arrow" len="sm" w="med"/>
            </a:ln>
          </p:spPr>
        </p:sp>
        <p:sp>
          <p:nvSpPr>
            <p:cNvPr name="TextBox 23" id="23"/>
            <p:cNvSpPr txBox="true"/>
            <p:nvPr/>
          </p:nvSpPr>
          <p:spPr>
            <a:xfrm rot="0">
              <a:off x="664008" y="252536"/>
              <a:ext cx="2271839" cy="4497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NEXT SLIDE</a:t>
              </a:r>
            </a:p>
          </p:txBody>
        </p:sp>
      </p:grpSp>
      <p:sp>
        <p:nvSpPr>
          <p:cNvPr name="TextBox 24" id="24"/>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774637" y="-763341"/>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5274985" y="3019693"/>
            <a:ext cx="7738030" cy="5136117"/>
          </a:xfrm>
          <a:custGeom>
            <a:avLst/>
            <a:gdLst/>
            <a:ahLst/>
            <a:cxnLst/>
            <a:rect r="r" b="b" t="t" l="l"/>
            <a:pathLst>
              <a:path h="5136117" w="7738030">
                <a:moveTo>
                  <a:pt x="0" y="0"/>
                </a:moveTo>
                <a:lnTo>
                  <a:pt x="7738030" y="0"/>
                </a:lnTo>
                <a:lnTo>
                  <a:pt x="7738030" y="5136118"/>
                </a:lnTo>
                <a:lnTo>
                  <a:pt x="0" y="5136118"/>
                </a:lnTo>
                <a:lnTo>
                  <a:pt x="0" y="0"/>
                </a:lnTo>
                <a:close/>
              </a:path>
            </a:pathLst>
          </a:custGeom>
          <a:blipFill>
            <a:blip r:embed="rId3"/>
            <a:stretch>
              <a:fillRect l="0" t="0" r="0" b="0"/>
            </a:stretch>
          </a:blipFill>
        </p:spPr>
      </p:sp>
      <p:grpSp>
        <p:nvGrpSpPr>
          <p:cNvPr name="Group 7" id="7"/>
          <p:cNvGrpSpPr/>
          <p:nvPr/>
        </p:nvGrpSpPr>
        <p:grpSpPr>
          <a:xfrm rot="0">
            <a:off x="464734" y="603722"/>
            <a:ext cx="17358533" cy="849956"/>
            <a:chOff x="0" y="0"/>
            <a:chExt cx="23144711" cy="1133274"/>
          </a:xfrm>
        </p:grpSpPr>
        <p:grpSp>
          <p:nvGrpSpPr>
            <p:cNvPr name="Group 8" id="8"/>
            <p:cNvGrpSpPr/>
            <p:nvPr/>
          </p:nvGrpSpPr>
          <p:grpSpPr>
            <a:xfrm rot="0">
              <a:off x="0" y="0"/>
              <a:ext cx="23144711" cy="1133274"/>
              <a:chOff x="0" y="0"/>
              <a:chExt cx="4571795" cy="223857"/>
            </a:xfrm>
          </p:grpSpPr>
          <p:sp>
            <p:nvSpPr>
              <p:cNvPr name="Freeform 9" id="9"/>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10" id="10"/>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13" id="13"/>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sp>
        <p:nvSpPr>
          <p:cNvPr name="TextBox 14" id="14"/>
          <p:cNvSpPr txBox="true"/>
          <p:nvPr/>
        </p:nvSpPr>
        <p:spPr>
          <a:xfrm rot="0">
            <a:off x="3751714" y="1943368"/>
            <a:ext cx="10784572"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82961B"/>
                </a:solidFill>
                <a:latin typeface="TT Hoves Bold"/>
                <a:ea typeface="TT Hoves Bold"/>
                <a:cs typeface="TT Hoves Bold"/>
                <a:sym typeface="TT Hoves Bold"/>
              </a:rPr>
              <a:t>Jumlah Penduduk per Kecamatan di Kota Surabaya</a:t>
            </a:r>
          </a:p>
        </p:txBody>
      </p:sp>
      <p:grpSp>
        <p:nvGrpSpPr>
          <p:cNvPr name="Group 15" id="15"/>
          <p:cNvGrpSpPr/>
          <p:nvPr/>
        </p:nvGrpSpPr>
        <p:grpSpPr>
          <a:xfrm rot="0">
            <a:off x="15465057" y="8882367"/>
            <a:ext cx="1794243" cy="751867"/>
            <a:chOff x="0" y="0"/>
            <a:chExt cx="969826" cy="406400"/>
          </a:xfrm>
        </p:grpSpPr>
        <p:sp>
          <p:nvSpPr>
            <p:cNvPr name="Freeform 16" id="16"/>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17" id="17"/>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856544" y="8506433"/>
            <a:ext cx="3635249" cy="751867"/>
            <a:chOff x="0" y="0"/>
            <a:chExt cx="4846999" cy="1002489"/>
          </a:xfrm>
        </p:grpSpPr>
        <p:grpSp>
          <p:nvGrpSpPr>
            <p:cNvPr name="Group 19" id="19"/>
            <p:cNvGrpSpPr/>
            <p:nvPr/>
          </p:nvGrpSpPr>
          <p:grpSpPr>
            <a:xfrm rot="0">
              <a:off x="0" y="0"/>
              <a:ext cx="4846999" cy="1002489"/>
              <a:chOff x="0" y="0"/>
              <a:chExt cx="1964929" cy="406400"/>
            </a:xfrm>
          </p:grpSpPr>
          <p:sp>
            <p:nvSpPr>
              <p:cNvPr name="Freeform 20" id="20"/>
              <p:cNvSpPr/>
              <p:nvPr/>
            </p:nvSpPr>
            <p:spPr>
              <a:xfrm flipH="false" flipV="false" rot="0">
                <a:off x="0" y="0"/>
                <a:ext cx="1964929" cy="406400"/>
              </a:xfrm>
              <a:custGeom>
                <a:avLst/>
                <a:gdLst/>
                <a:ahLst/>
                <a:cxnLst/>
                <a:rect r="r" b="b" t="t" l="l"/>
                <a:pathLst>
                  <a:path h="406400" w="1964929">
                    <a:moveTo>
                      <a:pt x="1761729" y="0"/>
                    </a:moveTo>
                    <a:cubicBezTo>
                      <a:pt x="1873954" y="0"/>
                      <a:pt x="1964929" y="90976"/>
                      <a:pt x="1964929" y="203200"/>
                    </a:cubicBezTo>
                    <a:cubicBezTo>
                      <a:pt x="1964929" y="315424"/>
                      <a:pt x="1873954" y="406400"/>
                      <a:pt x="176172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21" id="21"/>
              <p:cNvSpPr txBox="true"/>
              <p:nvPr/>
            </p:nvSpPr>
            <p:spPr>
              <a:xfrm>
                <a:off x="0" y="-47625"/>
                <a:ext cx="1964929" cy="454025"/>
              </a:xfrm>
              <a:prstGeom prst="rect">
                <a:avLst/>
              </a:prstGeom>
            </p:spPr>
            <p:txBody>
              <a:bodyPr anchor="ctr" rtlCol="false" tIns="50800" lIns="50800" bIns="50800" rIns="50800"/>
              <a:lstStyle/>
              <a:p>
                <a:pPr algn="ctr">
                  <a:lnSpc>
                    <a:spcPts val="2800"/>
                  </a:lnSpc>
                </a:pPr>
              </a:p>
            </p:txBody>
          </p:sp>
        </p:grpSp>
        <p:sp>
          <p:nvSpPr>
            <p:cNvPr name="AutoShape 22" id="22"/>
            <p:cNvSpPr/>
            <p:nvPr/>
          </p:nvSpPr>
          <p:spPr>
            <a:xfrm>
              <a:off x="3017035" y="501245"/>
              <a:ext cx="1396700" cy="0"/>
            </a:xfrm>
            <a:prstGeom prst="line">
              <a:avLst/>
            </a:prstGeom>
            <a:ln cap="flat" w="25400">
              <a:solidFill>
                <a:srgbClr val="FFFFFF"/>
              </a:solidFill>
              <a:prstDash val="solid"/>
              <a:headEnd type="none" len="sm" w="sm"/>
              <a:tailEnd type="arrow" len="sm" w="med"/>
            </a:ln>
          </p:spPr>
        </p:sp>
        <p:sp>
          <p:nvSpPr>
            <p:cNvPr name="TextBox 23" id="23"/>
            <p:cNvSpPr txBox="true"/>
            <p:nvPr/>
          </p:nvSpPr>
          <p:spPr>
            <a:xfrm rot="0">
              <a:off x="664008" y="252536"/>
              <a:ext cx="2271839" cy="4497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NEXT SLIDE</a:t>
              </a:r>
            </a:p>
          </p:txBody>
        </p:sp>
      </p:grpSp>
      <p:sp>
        <p:nvSpPr>
          <p:cNvPr name="TextBox 24" id="24"/>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464734" y="603722"/>
            <a:ext cx="17358533" cy="849956"/>
            <a:chOff x="0" y="0"/>
            <a:chExt cx="23144711" cy="1133274"/>
          </a:xfrm>
        </p:grpSpPr>
        <p:grpSp>
          <p:nvGrpSpPr>
            <p:cNvPr name="Group 7" id="7"/>
            <p:cNvGrpSpPr/>
            <p:nvPr/>
          </p:nvGrpSpPr>
          <p:grpSpPr>
            <a:xfrm rot="0">
              <a:off x="0" y="0"/>
              <a:ext cx="23144711" cy="1133274"/>
              <a:chOff x="0" y="0"/>
              <a:chExt cx="4571795" cy="223857"/>
            </a:xfrm>
          </p:grpSpPr>
          <p:sp>
            <p:nvSpPr>
              <p:cNvPr name="Freeform 8" id="8"/>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9" id="9"/>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12" id="12"/>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grpSp>
        <p:nvGrpSpPr>
          <p:cNvPr name="Group 13" id="13"/>
          <p:cNvGrpSpPr/>
          <p:nvPr/>
        </p:nvGrpSpPr>
        <p:grpSpPr>
          <a:xfrm rot="0">
            <a:off x="2076117" y="3202125"/>
            <a:ext cx="14135766" cy="5073536"/>
            <a:chOff x="0" y="0"/>
            <a:chExt cx="18847688" cy="6764715"/>
          </a:xfrm>
        </p:grpSpPr>
        <p:sp>
          <p:nvSpPr>
            <p:cNvPr name="Freeform 14" id="14"/>
            <p:cNvSpPr/>
            <p:nvPr/>
          </p:nvSpPr>
          <p:spPr>
            <a:xfrm flipH="false" flipV="false" rot="0">
              <a:off x="0" y="0"/>
              <a:ext cx="10153418" cy="6764715"/>
            </a:xfrm>
            <a:custGeom>
              <a:avLst/>
              <a:gdLst/>
              <a:ahLst/>
              <a:cxnLst/>
              <a:rect r="r" b="b" t="t" l="l"/>
              <a:pathLst>
                <a:path h="6764715" w="10153418">
                  <a:moveTo>
                    <a:pt x="0" y="0"/>
                  </a:moveTo>
                  <a:lnTo>
                    <a:pt x="10153418" y="0"/>
                  </a:lnTo>
                  <a:lnTo>
                    <a:pt x="10153418" y="6764715"/>
                  </a:lnTo>
                  <a:lnTo>
                    <a:pt x="0" y="6764715"/>
                  </a:lnTo>
                  <a:lnTo>
                    <a:pt x="0" y="0"/>
                  </a:lnTo>
                  <a:close/>
                </a:path>
              </a:pathLst>
            </a:custGeom>
            <a:blipFill>
              <a:blip r:embed="rId5"/>
              <a:stretch>
                <a:fillRect l="0" t="0" r="0" b="0"/>
              </a:stretch>
            </a:blipFill>
          </p:spPr>
        </p:sp>
        <p:sp>
          <p:nvSpPr>
            <p:cNvPr name="Freeform 15" id="15"/>
            <p:cNvSpPr/>
            <p:nvPr/>
          </p:nvSpPr>
          <p:spPr>
            <a:xfrm flipH="false" flipV="false" rot="0">
              <a:off x="10660439" y="0"/>
              <a:ext cx="8187250" cy="6764715"/>
            </a:xfrm>
            <a:custGeom>
              <a:avLst/>
              <a:gdLst/>
              <a:ahLst/>
              <a:cxnLst/>
              <a:rect r="r" b="b" t="t" l="l"/>
              <a:pathLst>
                <a:path h="6764715" w="8187250">
                  <a:moveTo>
                    <a:pt x="0" y="0"/>
                  </a:moveTo>
                  <a:lnTo>
                    <a:pt x="8187249" y="0"/>
                  </a:lnTo>
                  <a:lnTo>
                    <a:pt x="8187249" y="6764715"/>
                  </a:lnTo>
                  <a:lnTo>
                    <a:pt x="0" y="6764715"/>
                  </a:lnTo>
                  <a:lnTo>
                    <a:pt x="0" y="0"/>
                  </a:lnTo>
                  <a:close/>
                </a:path>
              </a:pathLst>
            </a:custGeom>
            <a:blipFill>
              <a:blip r:embed="rId6"/>
              <a:stretch>
                <a:fillRect l="0" t="0" r="0" b="0"/>
              </a:stretch>
            </a:blipFill>
          </p:spPr>
        </p:sp>
      </p:grpSp>
      <p:sp>
        <p:nvSpPr>
          <p:cNvPr name="TextBox 16" id="16"/>
          <p:cNvSpPr txBox="true"/>
          <p:nvPr/>
        </p:nvSpPr>
        <p:spPr>
          <a:xfrm rot="0">
            <a:off x="5029146" y="1934271"/>
            <a:ext cx="8229709" cy="1037082"/>
          </a:xfrm>
          <a:prstGeom prst="rect">
            <a:avLst/>
          </a:prstGeom>
        </p:spPr>
        <p:txBody>
          <a:bodyPr anchor="t" rtlCol="false" tIns="0" lIns="0" bIns="0" rIns="0">
            <a:spAutoFit/>
          </a:bodyPr>
          <a:lstStyle/>
          <a:p>
            <a:pPr algn="ctr">
              <a:lnSpc>
                <a:spcPts val="4104"/>
              </a:lnSpc>
            </a:pPr>
            <a:r>
              <a:rPr lang="en-US" b="true" sz="3600">
                <a:solidFill>
                  <a:srgbClr val="82961B"/>
                </a:solidFill>
                <a:latin typeface="TT Hoves Bold"/>
                <a:ea typeface="TT Hoves Bold"/>
                <a:cs typeface="TT Hoves Bold"/>
                <a:sym typeface="TT Hoves Bold"/>
              </a:rPr>
              <a:t> Graf Rute Antar Halte Bus Transjatim Mojokerto-Jombang</a:t>
            </a:r>
          </a:p>
        </p:txBody>
      </p:sp>
      <p:grpSp>
        <p:nvGrpSpPr>
          <p:cNvPr name="Group 17" id="17"/>
          <p:cNvGrpSpPr/>
          <p:nvPr/>
        </p:nvGrpSpPr>
        <p:grpSpPr>
          <a:xfrm rot="0">
            <a:off x="15465057" y="8882367"/>
            <a:ext cx="1794243" cy="751867"/>
            <a:chOff x="0" y="0"/>
            <a:chExt cx="969826" cy="406400"/>
          </a:xfrm>
        </p:grpSpPr>
        <p:sp>
          <p:nvSpPr>
            <p:cNvPr name="Freeform 18" id="18"/>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19" id="19"/>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grpSp>
        <p:nvGrpSpPr>
          <p:cNvPr name="Group 20" id="20"/>
          <p:cNvGrpSpPr/>
          <p:nvPr/>
        </p:nvGrpSpPr>
        <p:grpSpPr>
          <a:xfrm rot="0">
            <a:off x="1856544" y="8506433"/>
            <a:ext cx="3635249" cy="751867"/>
            <a:chOff x="0" y="0"/>
            <a:chExt cx="4846999" cy="1002489"/>
          </a:xfrm>
        </p:grpSpPr>
        <p:grpSp>
          <p:nvGrpSpPr>
            <p:cNvPr name="Group 21" id="21"/>
            <p:cNvGrpSpPr/>
            <p:nvPr/>
          </p:nvGrpSpPr>
          <p:grpSpPr>
            <a:xfrm rot="0">
              <a:off x="0" y="0"/>
              <a:ext cx="4846999" cy="1002489"/>
              <a:chOff x="0" y="0"/>
              <a:chExt cx="1964929" cy="406400"/>
            </a:xfrm>
          </p:grpSpPr>
          <p:sp>
            <p:nvSpPr>
              <p:cNvPr name="Freeform 22" id="22"/>
              <p:cNvSpPr/>
              <p:nvPr/>
            </p:nvSpPr>
            <p:spPr>
              <a:xfrm flipH="false" flipV="false" rot="0">
                <a:off x="0" y="0"/>
                <a:ext cx="1964929" cy="406400"/>
              </a:xfrm>
              <a:custGeom>
                <a:avLst/>
                <a:gdLst/>
                <a:ahLst/>
                <a:cxnLst/>
                <a:rect r="r" b="b" t="t" l="l"/>
                <a:pathLst>
                  <a:path h="406400" w="1964929">
                    <a:moveTo>
                      <a:pt x="1761729" y="0"/>
                    </a:moveTo>
                    <a:cubicBezTo>
                      <a:pt x="1873954" y="0"/>
                      <a:pt x="1964929" y="90976"/>
                      <a:pt x="1964929" y="203200"/>
                    </a:cubicBezTo>
                    <a:cubicBezTo>
                      <a:pt x="1964929" y="315424"/>
                      <a:pt x="1873954" y="406400"/>
                      <a:pt x="176172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23" id="23"/>
              <p:cNvSpPr txBox="true"/>
              <p:nvPr/>
            </p:nvSpPr>
            <p:spPr>
              <a:xfrm>
                <a:off x="0" y="-47625"/>
                <a:ext cx="1964929" cy="454025"/>
              </a:xfrm>
              <a:prstGeom prst="rect">
                <a:avLst/>
              </a:prstGeom>
            </p:spPr>
            <p:txBody>
              <a:bodyPr anchor="ctr" rtlCol="false" tIns="50800" lIns="50800" bIns="50800" rIns="50800"/>
              <a:lstStyle/>
              <a:p>
                <a:pPr algn="ctr">
                  <a:lnSpc>
                    <a:spcPts val="2800"/>
                  </a:lnSpc>
                </a:pPr>
              </a:p>
            </p:txBody>
          </p:sp>
        </p:grpSp>
        <p:sp>
          <p:nvSpPr>
            <p:cNvPr name="AutoShape 24" id="24"/>
            <p:cNvSpPr/>
            <p:nvPr/>
          </p:nvSpPr>
          <p:spPr>
            <a:xfrm>
              <a:off x="3017035" y="501245"/>
              <a:ext cx="1396700" cy="0"/>
            </a:xfrm>
            <a:prstGeom prst="line">
              <a:avLst/>
            </a:prstGeom>
            <a:ln cap="flat" w="25400">
              <a:solidFill>
                <a:srgbClr val="FFFFFF"/>
              </a:solidFill>
              <a:prstDash val="solid"/>
              <a:headEnd type="none" len="sm" w="sm"/>
              <a:tailEnd type="arrow" len="sm" w="med"/>
            </a:ln>
          </p:spPr>
        </p:sp>
        <p:sp>
          <p:nvSpPr>
            <p:cNvPr name="TextBox 25" id="25"/>
            <p:cNvSpPr txBox="true"/>
            <p:nvPr/>
          </p:nvSpPr>
          <p:spPr>
            <a:xfrm rot="0">
              <a:off x="664008" y="252536"/>
              <a:ext cx="2271839" cy="449792"/>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FFFFFF"/>
                  </a:solidFill>
                  <a:latin typeface="TT Hoves"/>
                  <a:ea typeface="TT Hoves"/>
                  <a:cs typeface="TT Hoves"/>
                  <a:sym typeface="TT Hoves"/>
                </a:rPr>
                <a:t>NEXT SLIDE</a:t>
              </a:r>
            </a:p>
          </p:txBody>
        </p:sp>
      </p:grpSp>
      <p:sp>
        <p:nvSpPr>
          <p:cNvPr name="TextBox 26" id="26"/>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464734" y="603722"/>
            <a:ext cx="17358533" cy="849956"/>
            <a:chOff x="0" y="0"/>
            <a:chExt cx="23144711" cy="1133274"/>
          </a:xfrm>
        </p:grpSpPr>
        <p:grpSp>
          <p:nvGrpSpPr>
            <p:cNvPr name="Group 7" id="7"/>
            <p:cNvGrpSpPr/>
            <p:nvPr/>
          </p:nvGrpSpPr>
          <p:grpSpPr>
            <a:xfrm rot="0">
              <a:off x="0" y="0"/>
              <a:ext cx="23144711" cy="1133274"/>
              <a:chOff x="0" y="0"/>
              <a:chExt cx="4571795" cy="223857"/>
            </a:xfrm>
          </p:grpSpPr>
          <p:sp>
            <p:nvSpPr>
              <p:cNvPr name="Freeform 8" id="8"/>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9" id="9"/>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12" id="12"/>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8</a:t>
              </a:r>
            </a:p>
          </p:txBody>
        </p:sp>
      </p:grpSp>
      <p:grpSp>
        <p:nvGrpSpPr>
          <p:cNvPr name="Group 13" id="13"/>
          <p:cNvGrpSpPr/>
          <p:nvPr/>
        </p:nvGrpSpPr>
        <p:grpSpPr>
          <a:xfrm rot="-10800000">
            <a:off x="11914634" y="1748503"/>
            <a:ext cx="4225119" cy="942015"/>
            <a:chOff x="0" y="0"/>
            <a:chExt cx="1254423" cy="279681"/>
          </a:xfrm>
        </p:grpSpPr>
        <p:sp>
          <p:nvSpPr>
            <p:cNvPr name="Freeform 14" id="14"/>
            <p:cNvSpPr/>
            <p:nvPr/>
          </p:nvSpPr>
          <p:spPr>
            <a:xfrm flipH="false" flipV="false" rot="0">
              <a:off x="0" y="0"/>
              <a:ext cx="1254423" cy="279681"/>
            </a:xfrm>
            <a:custGeom>
              <a:avLst/>
              <a:gdLst/>
              <a:ahLst/>
              <a:cxnLst/>
              <a:rect r="r" b="b" t="t" l="l"/>
              <a:pathLst>
                <a:path h="279681" w="1254423">
                  <a:moveTo>
                    <a:pt x="64132" y="0"/>
                  </a:moveTo>
                  <a:lnTo>
                    <a:pt x="1190291" y="0"/>
                  </a:lnTo>
                  <a:cubicBezTo>
                    <a:pt x="1207300" y="0"/>
                    <a:pt x="1223612" y="6757"/>
                    <a:pt x="1235640" y="18784"/>
                  </a:cubicBezTo>
                  <a:cubicBezTo>
                    <a:pt x="1247667" y="30811"/>
                    <a:pt x="1254423" y="47123"/>
                    <a:pt x="1254423" y="64132"/>
                  </a:cubicBezTo>
                  <a:lnTo>
                    <a:pt x="1254423" y="215548"/>
                  </a:lnTo>
                  <a:cubicBezTo>
                    <a:pt x="1254423" y="232557"/>
                    <a:pt x="1247667" y="248870"/>
                    <a:pt x="1235640" y="260897"/>
                  </a:cubicBezTo>
                  <a:cubicBezTo>
                    <a:pt x="1223612" y="272924"/>
                    <a:pt x="1207300" y="279681"/>
                    <a:pt x="1190291" y="279681"/>
                  </a:cubicBezTo>
                  <a:lnTo>
                    <a:pt x="64132" y="279681"/>
                  </a:lnTo>
                  <a:cubicBezTo>
                    <a:pt x="28713" y="279681"/>
                    <a:pt x="0" y="250968"/>
                    <a:pt x="0" y="215548"/>
                  </a:cubicBezTo>
                  <a:lnTo>
                    <a:pt x="0" y="64132"/>
                  </a:lnTo>
                  <a:cubicBezTo>
                    <a:pt x="0" y="47123"/>
                    <a:pt x="6757" y="30811"/>
                    <a:pt x="18784" y="18784"/>
                  </a:cubicBezTo>
                  <a:cubicBezTo>
                    <a:pt x="30811" y="6757"/>
                    <a:pt x="47123" y="0"/>
                    <a:pt x="64132" y="0"/>
                  </a:cubicBezTo>
                  <a:close/>
                </a:path>
              </a:pathLst>
            </a:custGeom>
            <a:gradFill rotWithShape="true">
              <a:gsLst>
                <a:gs pos="0">
                  <a:srgbClr val="596615">
                    <a:alpha val="100000"/>
                  </a:srgbClr>
                </a:gs>
                <a:gs pos="100000">
                  <a:srgbClr val="596614">
                    <a:alpha val="0"/>
                  </a:srgbClr>
                </a:gs>
              </a:gsLst>
              <a:lin ang="0"/>
            </a:gradFill>
          </p:spPr>
        </p:sp>
        <p:sp>
          <p:nvSpPr>
            <p:cNvPr name="TextBox 15" id="15"/>
            <p:cNvSpPr txBox="true"/>
            <p:nvPr/>
          </p:nvSpPr>
          <p:spPr>
            <a:xfrm>
              <a:off x="0" y="-47625"/>
              <a:ext cx="1254423" cy="327306"/>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9429061" y="1948209"/>
            <a:ext cx="5801613" cy="3691254"/>
            <a:chOff x="0" y="0"/>
            <a:chExt cx="795439" cy="506095"/>
          </a:xfrm>
        </p:grpSpPr>
        <p:sp>
          <p:nvSpPr>
            <p:cNvPr name="Freeform 17" id="17"/>
            <p:cNvSpPr/>
            <p:nvPr/>
          </p:nvSpPr>
          <p:spPr>
            <a:xfrm flipH="false" flipV="false" rot="0">
              <a:off x="0" y="0"/>
              <a:ext cx="795439" cy="506095"/>
            </a:xfrm>
            <a:custGeom>
              <a:avLst/>
              <a:gdLst/>
              <a:ahLst/>
              <a:cxnLst/>
              <a:rect r="r" b="b" t="t" l="l"/>
              <a:pathLst>
                <a:path h="506095" w="795439">
                  <a:moveTo>
                    <a:pt x="53378" y="0"/>
                  </a:moveTo>
                  <a:lnTo>
                    <a:pt x="742061" y="0"/>
                  </a:lnTo>
                  <a:cubicBezTo>
                    <a:pt x="771541" y="0"/>
                    <a:pt x="795439" y="23898"/>
                    <a:pt x="795439" y="53378"/>
                  </a:cubicBezTo>
                  <a:lnTo>
                    <a:pt x="795439" y="452717"/>
                  </a:lnTo>
                  <a:cubicBezTo>
                    <a:pt x="795439" y="466874"/>
                    <a:pt x="789815" y="480450"/>
                    <a:pt x="779805" y="490461"/>
                  </a:cubicBezTo>
                  <a:cubicBezTo>
                    <a:pt x="769794" y="500471"/>
                    <a:pt x="756217" y="506095"/>
                    <a:pt x="742061" y="506095"/>
                  </a:cubicBezTo>
                  <a:lnTo>
                    <a:pt x="53378" y="506095"/>
                  </a:lnTo>
                  <a:cubicBezTo>
                    <a:pt x="39221" y="506095"/>
                    <a:pt x="25644" y="500471"/>
                    <a:pt x="15634" y="490461"/>
                  </a:cubicBezTo>
                  <a:cubicBezTo>
                    <a:pt x="5624" y="480450"/>
                    <a:pt x="0" y="466874"/>
                    <a:pt x="0" y="452717"/>
                  </a:cubicBezTo>
                  <a:lnTo>
                    <a:pt x="0" y="53378"/>
                  </a:lnTo>
                  <a:cubicBezTo>
                    <a:pt x="0" y="39221"/>
                    <a:pt x="5624" y="25644"/>
                    <a:pt x="15634" y="15634"/>
                  </a:cubicBezTo>
                  <a:cubicBezTo>
                    <a:pt x="25644" y="5624"/>
                    <a:pt x="39221" y="0"/>
                    <a:pt x="53378" y="0"/>
                  </a:cubicBezTo>
                  <a:close/>
                </a:path>
              </a:pathLst>
            </a:custGeom>
            <a:blipFill>
              <a:blip r:embed="rId5"/>
              <a:stretch>
                <a:fillRect l="0" t="-4764" r="0" b="-4764"/>
              </a:stretch>
            </a:blipFill>
          </p:spPr>
        </p:sp>
      </p:grpSp>
      <p:grpSp>
        <p:nvGrpSpPr>
          <p:cNvPr name="Group 18" id="18"/>
          <p:cNvGrpSpPr/>
          <p:nvPr/>
        </p:nvGrpSpPr>
        <p:grpSpPr>
          <a:xfrm rot="0">
            <a:off x="8933540" y="5314170"/>
            <a:ext cx="7001196" cy="1472414"/>
            <a:chOff x="0" y="0"/>
            <a:chExt cx="1843936" cy="387796"/>
          </a:xfrm>
        </p:grpSpPr>
        <p:sp>
          <p:nvSpPr>
            <p:cNvPr name="Freeform 19" id="19"/>
            <p:cNvSpPr/>
            <p:nvPr/>
          </p:nvSpPr>
          <p:spPr>
            <a:xfrm flipH="false" flipV="false" rot="0">
              <a:off x="0" y="0"/>
              <a:ext cx="1843936" cy="387796"/>
            </a:xfrm>
            <a:custGeom>
              <a:avLst/>
              <a:gdLst/>
              <a:ahLst/>
              <a:cxnLst/>
              <a:rect r="r" b="b" t="t" l="l"/>
              <a:pathLst>
                <a:path h="387796" w="1843936">
                  <a:moveTo>
                    <a:pt x="56396" y="0"/>
                  </a:moveTo>
                  <a:lnTo>
                    <a:pt x="1787541" y="0"/>
                  </a:lnTo>
                  <a:cubicBezTo>
                    <a:pt x="1802498" y="0"/>
                    <a:pt x="1816842" y="5942"/>
                    <a:pt x="1827418" y="16518"/>
                  </a:cubicBezTo>
                  <a:cubicBezTo>
                    <a:pt x="1837995" y="27094"/>
                    <a:pt x="1843936" y="41439"/>
                    <a:pt x="1843936" y="56396"/>
                  </a:cubicBezTo>
                  <a:lnTo>
                    <a:pt x="1843936" y="331400"/>
                  </a:lnTo>
                  <a:cubicBezTo>
                    <a:pt x="1843936" y="346357"/>
                    <a:pt x="1837995" y="360702"/>
                    <a:pt x="1827418" y="371278"/>
                  </a:cubicBezTo>
                  <a:cubicBezTo>
                    <a:pt x="1816842" y="381855"/>
                    <a:pt x="1802498" y="387796"/>
                    <a:pt x="1787541" y="387796"/>
                  </a:cubicBezTo>
                  <a:lnTo>
                    <a:pt x="56396" y="387796"/>
                  </a:lnTo>
                  <a:cubicBezTo>
                    <a:pt x="41439" y="387796"/>
                    <a:pt x="27094" y="381855"/>
                    <a:pt x="16518" y="371278"/>
                  </a:cubicBezTo>
                  <a:cubicBezTo>
                    <a:pt x="5942" y="360702"/>
                    <a:pt x="0" y="346357"/>
                    <a:pt x="0" y="331400"/>
                  </a:cubicBezTo>
                  <a:lnTo>
                    <a:pt x="0" y="56396"/>
                  </a:lnTo>
                  <a:cubicBezTo>
                    <a:pt x="0" y="41439"/>
                    <a:pt x="5942" y="27094"/>
                    <a:pt x="16518" y="16518"/>
                  </a:cubicBezTo>
                  <a:cubicBezTo>
                    <a:pt x="27094" y="5942"/>
                    <a:pt x="41439" y="0"/>
                    <a:pt x="56396" y="0"/>
                  </a:cubicBezTo>
                  <a:close/>
                </a:path>
              </a:pathLst>
            </a:custGeom>
            <a:gradFill rotWithShape="true">
              <a:gsLst>
                <a:gs pos="0">
                  <a:srgbClr val="596615">
                    <a:alpha val="100000"/>
                  </a:srgbClr>
                </a:gs>
                <a:gs pos="100000">
                  <a:srgbClr val="7E9218">
                    <a:alpha val="100000"/>
                  </a:srgbClr>
                </a:gs>
              </a:gsLst>
              <a:lin ang="0"/>
            </a:gradFill>
          </p:spPr>
        </p:sp>
        <p:sp>
          <p:nvSpPr>
            <p:cNvPr name="TextBox 20" id="20"/>
            <p:cNvSpPr txBox="true"/>
            <p:nvPr/>
          </p:nvSpPr>
          <p:spPr>
            <a:xfrm>
              <a:off x="0" y="-47625"/>
              <a:ext cx="1843936" cy="435421"/>
            </a:xfrm>
            <a:prstGeom prst="rect">
              <a:avLst/>
            </a:prstGeom>
          </p:spPr>
          <p:txBody>
            <a:bodyPr anchor="ctr" rtlCol="false" tIns="50800" lIns="50800" bIns="50800" rIns="50800"/>
            <a:lstStyle/>
            <a:p>
              <a:pPr algn="ctr">
                <a:lnSpc>
                  <a:spcPts val="2800"/>
                </a:lnSpc>
              </a:pPr>
            </a:p>
          </p:txBody>
        </p:sp>
      </p:grpSp>
      <p:sp>
        <p:nvSpPr>
          <p:cNvPr name="TextBox 21" id="21"/>
          <p:cNvSpPr txBox="true"/>
          <p:nvPr/>
        </p:nvSpPr>
        <p:spPr>
          <a:xfrm rot="0">
            <a:off x="9487127" y="5556982"/>
            <a:ext cx="5894021" cy="1024890"/>
          </a:xfrm>
          <a:prstGeom prst="rect">
            <a:avLst/>
          </a:prstGeom>
        </p:spPr>
        <p:txBody>
          <a:bodyPr anchor="t" rtlCol="false" tIns="0" lIns="0" bIns="0" rIns="0">
            <a:spAutoFit/>
          </a:bodyPr>
          <a:lstStyle/>
          <a:p>
            <a:pPr algn="ctr" marL="0" indent="0" lvl="0">
              <a:lnSpc>
                <a:spcPts val="7979"/>
              </a:lnSpc>
            </a:pPr>
            <a:r>
              <a:rPr lang="en-US" b="true" sz="6999">
                <a:solidFill>
                  <a:srgbClr val="000000"/>
                </a:solidFill>
                <a:latin typeface="TT Hoves Bold"/>
                <a:ea typeface="TT Hoves Bold"/>
                <a:cs typeface="TT Hoves Bold"/>
                <a:sym typeface="TT Hoves Bold"/>
              </a:rPr>
              <a:t>Kesimpulan</a:t>
            </a:r>
          </a:p>
        </p:txBody>
      </p:sp>
      <p:sp>
        <p:nvSpPr>
          <p:cNvPr name="TextBox 22" id="22"/>
          <p:cNvSpPr txBox="true"/>
          <p:nvPr/>
        </p:nvSpPr>
        <p:spPr>
          <a:xfrm rot="0">
            <a:off x="464734" y="2642893"/>
            <a:ext cx="7998250" cy="6219881"/>
          </a:xfrm>
          <a:prstGeom prst="rect">
            <a:avLst/>
          </a:prstGeom>
        </p:spPr>
        <p:txBody>
          <a:bodyPr anchor="t" rtlCol="false" tIns="0" lIns="0" bIns="0" rIns="0">
            <a:spAutoFit/>
          </a:bodyPr>
          <a:lstStyle/>
          <a:p>
            <a:pPr algn="l" marL="591477" indent="-295738" lvl="1">
              <a:lnSpc>
                <a:spcPts val="3835"/>
              </a:lnSpc>
              <a:buFont typeface="Arial"/>
              <a:buChar char="•"/>
            </a:pPr>
            <a:r>
              <a:rPr lang="en-US" b="true" sz="2739">
                <a:solidFill>
                  <a:srgbClr val="FFFFFF"/>
                </a:solidFill>
                <a:latin typeface="TT Hoves Bold"/>
                <a:ea typeface="TT Hoves Bold"/>
                <a:cs typeface="TT Hoves Bold"/>
                <a:sym typeface="TT Hoves Bold"/>
              </a:rPr>
              <a:t>Persebaran Halte: Halte tersebar merata sepanjang jalur Mojokerto–Jombang, memudahkan akses transportasi di berbagai titik kota.</a:t>
            </a:r>
          </a:p>
          <a:p>
            <a:pPr algn="l" marL="591477" indent="-295738" lvl="1">
              <a:lnSpc>
                <a:spcPts val="3835"/>
              </a:lnSpc>
              <a:buFont typeface="Arial"/>
              <a:buChar char="•"/>
            </a:pPr>
            <a:r>
              <a:rPr lang="en-US" b="true" sz="2739">
                <a:solidFill>
                  <a:srgbClr val="FFFFFF"/>
                </a:solidFill>
                <a:latin typeface="TT Hoves Bold"/>
                <a:ea typeface="TT Hoves Bold"/>
                <a:cs typeface="TT Hoves Bold"/>
                <a:sym typeface="TT Hoves Bold"/>
              </a:rPr>
              <a:t>Jalur Antar Halte: Jalur antar halte divisualisasikan sebagai garis penghubung berurutan, memperlihatkan konektivitas rute dan jarak antar halte secara jelas.</a:t>
            </a:r>
          </a:p>
          <a:p>
            <a:pPr algn="l" marL="591477" indent="-295738" lvl="1">
              <a:lnSpc>
                <a:spcPts val="3835"/>
              </a:lnSpc>
              <a:spcBef>
                <a:spcPct val="0"/>
              </a:spcBef>
              <a:buFont typeface="Arial"/>
              <a:buChar char="•"/>
            </a:pPr>
            <a:r>
              <a:rPr lang="en-US" b="true" sz="2739">
                <a:solidFill>
                  <a:srgbClr val="FFFFFF"/>
                </a:solidFill>
                <a:latin typeface="TT Hoves Bold"/>
                <a:ea typeface="TT Hoves Bold"/>
                <a:cs typeface="TT Hoves Bold"/>
                <a:sym typeface="TT Hoves Bold"/>
              </a:rPr>
              <a:t>Peta Interaktif: Visualisasi Folium menampilkan marker tiap halte dan jalur antar halte, memungkinkan eksplorasi peta secara interaktif dan mempermudah identifikasi lokasi halte.</a:t>
            </a:r>
          </a:p>
        </p:txBody>
      </p:sp>
      <p:sp>
        <p:nvSpPr>
          <p:cNvPr name="TextBox 23" id="23"/>
          <p:cNvSpPr txBox="true"/>
          <p:nvPr/>
        </p:nvSpPr>
        <p:spPr>
          <a:xfrm rot="0">
            <a:off x="9144000" y="7027047"/>
            <a:ext cx="6617401" cy="1835727"/>
          </a:xfrm>
          <a:prstGeom prst="rect">
            <a:avLst/>
          </a:prstGeom>
        </p:spPr>
        <p:txBody>
          <a:bodyPr anchor="t" rtlCol="false" tIns="0" lIns="0" bIns="0" rIns="0">
            <a:spAutoFit/>
          </a:bodyPr>
          <a:lstStyle/>
          <a:p>
            <a:pPr algn="just" marL="0" indent="0" lvl="0">
              <a:lnSpc>
                <a:spcPts val="2438"/>
              </a:lnSpc>
              <a:spcBef>
                <a:spcPct val="0"/>
              </a:spcBef>
            </a:pPr>
            <a:r>
              <a:rPr lang="en-US" sz="1742">
                <a:solidFill>
                  <a:srgbClr val="FFFFFF"/>
                </a:solidFill>
                <a:latin typeface="TT Hoves"/>
                <a:ea typeface="TT Hoves"/>
                <a:cs typeface="TT Hoves"/>
                <a:sym typeface="TT Hoves"/>
              </a:rPr>
              <a:t>Dalam proyek ini, Matematika Diskrit digunakan untuk memodelkan graf jalur, menghitung jarak antarhalte, dan menganalisis kebutuhan transportasi berdasarkan populasi. Simulasi TransJatim Mojokerto–Jombang menunjukkan halte tersebar merata dari Terminal Kertajaya hingga Stasiun Jombang, yang divisualisasikan dengan peta interaktif,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546717" y="-1367637"/>
            <a:ext cx="20406601" cy="11813681"/>
            <a:chOff x="0" y="0"/>
            <a:chExt cx="5374578" cy="3111422"/>
          </a:xfrm>
        </p:grpSpPr>
        <p:sp>
          <p:nvSpPr>
            <p:cNvPr name="Freeform 4" id="4"/>
            <p:cNvSpPr/>
            <p:nvPr/>
          </p:nvSpPr>
          <p:spPr>
            <a:xfrm flipH="false" flipV="false" rot="0">
              <a:off x="0" y="0"/>
              <a:ext cx="5374578" cy="3111422"/>
            </a:xfrm>
            <a:custGeom>
              <a:avLst/>
              <a:gdLst/>
              <a:ahLst/>
              <a:cxnLst/>
              <a:rect r="r" b="b" t="t" l="l"/>
              <a:pathLst>
                <a:path h="3111422" w="5374578">
                  <a:moveTo>
                    <a:pt x="0" y="0"/>
                  </a:moveTo>
                  <a:lnTo>
                    <a:pt x="5374578" y="0"/>
                  </a:lnTo>
                  <a:lnTo>
                    <a:pt x="5374578" y="3111422"/>
                  </a:lnTo>
                  <a:lnTo>
                    <a:pt x="0" y="3111422"/>
                  </a:lnTo>
                  <a:close/>
                </a:path>
              </a:pathLst>
            </a:custGeom>
            <a:solidFill>
              <a:srgbClr val="000000">
                <a:alpha val="75686"/>
              </a:srgbClr>
            </a:solidFill>
          </p:spPr>
        </p:sp>
        <p:sp>
          <p:nvSpPr>
            <p:cNvPr name="TextBox 5" id="5"/>
            <p:cNvSpPr txBox="true"/>
            <p:nvPr/>
          </p:nvSpPr>
          <p:spPr>
            <a:xfrm>
              <a:off x="0" y="-47625"/>
              <a:ext cx="5374578" cy="3159047"/>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464734" y="603722"/>
            <a:ext cx="17358533" cy="849956"/>
            <a:chOff x="0" y="0"/>
            <a:chExt cx="23144711" cy="1133274"/>
          </a:xfrm>
        </p:grpSpPr>
        <p:grpSp>
          <p:nvGrpSpPr>
            <p:cNvPr name="Group 7" id="7"/>
            <p:cNvGrpSpPr/>
            <p:nvPr/>
          </p:nvGrpSpPr>
          <p:grpSpPr>
            <a:xfrm rot="0">
              <a:off x="0" y="0"/>
              <a:ext cx="23144711" cy="1133274"/>
              <a:chOff x="0" y="0"/>
              <a:chExt cx="4571795" cy="223857"/>
            </a:xfrm>
          </p:grpSpPr>
          <p:sp>
            <p:nvSpPr>
              <p:cNvPr name="Freeform 8" id="8"/>
              <p:cNvSpPr/>
              <p:nvPr/>
            </p:nvSpPr>
            <p:spPr>
              <a:xfrm flipH="false" flipV="false" rot="0">
                <a:off x="0" y="0"/>
                <a:ext cx="4571795" cy="223857"/>
              </a:xfrm>
              <a:custGeom>
                <a:avLst/>
                <a:gdLst/>
                <a:ahLst/>
                <a:cxnLst/>
                <a:rect r="r" b="b" t="t" l="l"/>
                <a:pathLst>
                  <a:path h="223857" w="4571795">
                    <a:moveTo>
                      <a:pt x="44600" y="0"/>
                    </a:moveTo>
                    <a:lnTo>
                      <a:pt x="4527195" y="0"/>
                    </a:lnTo>
                    <a:cubicBezTo>
                      <a:pt x="4551826" y="0"/>
                      <a:pt x="4571795" y="19968"/>
                      <a:pt x="4571795" y="44600"/>
                    </a:cubicBezTo>
                    <a:lnTo>
                      <a:pt x="4571795" y="179257"/>
                    </a:lnTo>
                    <a:cubicBezTo>
                      <a:pt x="4571795" y="191085"/>
                      <a:pt x="4567096" y="202429"/>
                      <a:pt x="4558731" y="210794"/>
                    </a:cubicBezTo>
                    <a:cubicBezTo>
                      <a:pt x="4550367" y="219158"/>
                      <a:pt x="4539023" y="223857"/>
                      <a:pt x="4527195" y="223857"/>
                    </a:cubicBezTo>
                    <a:lnTo>
                      <a:pt x="44600" y="223857"/>
                    </a:lnTo>
                    <a:cubicBezTo>
                      <a:pt x="32771" y="223857"/>
                      <a:pt x="21427" y="219158"/>
                      <a:pt x="13063" y="210794"/>
                    </a:cubicBezTo>
                    <a:cubicBezTo>
                      <a:pt x="4699" y="202429"/>
                      <a:pt x="0" y="191085"/>
                      <a:pt x="0" y="179257"/>
                    </a:cubicBezTo>
                    <a:lnTo>
                      <a:pt x="0" y="44600"/>
                    </a:lnTo>
                    <a:cubicBezTo>
                      <a:pt x="0" y="32771"/>
                      <a:pt x="4699" y="21427"/>
                      <a:pt x="13063" y="13063"/>
                    </a:cubicBezTo>
                    <a:cubicBezTo>
                      <a:pt x="21427" y="4699"/>
                      <a:pt x="32771" y="0"/>
                      <a:pt x="44600" y="0"/>
                    </a:cubicBezTo>
                    <a:close/>
                  </a:path>
                </a:pathLst>
              </a:custGeom>
              <a:gradFill rotWithShape="true">
                <a:gsLst>
                  <a:gs pos="0">
                    <a:srgbClr val="374009">
                      <a:alpha val="100000"/>
                    </a:srgbClr>
                  </a:gs>
                  <a:gs pos="100000">
                    <a:srgbClr val="37400A">
                      <a:alpha val="0"/>
                    </a:srgbClr>
                  </a:gs>
                </a:gsLst>
                <a:lin ang="0"/>
              </a:gradFill>
              <a:ln w="38100" cap="rnd">
                <a:gradFill>
                  <a:gsLst>
                    <a:gs pos="0">
                      <a:srgbClr val="37400A">
                        <a:alpha val="0"/>
                      </a:srgbClr>
                    </a:gs>
                    <a:gs pos="100000">
                      <a:srgbClr val="374009">
                        <a:alpha val="100000"/>
                      </a:srgbClr>
                    </a:gs>
                  </a:gsLst>
                  <a:lin ang="0"/>
                </a:gradFill>
                <a:prstDash val="solid"/>
                <a:round/>
              </a:ln>
            </p:spPr>
          </p:sp>
          <p:sp>
            <p:nvSpPr>
              <p:cNvPr name="TextBox 9" id="9"/>
              <p:cNvSpPr txBox="true"/>
              <p:nvPr/>
            </p:nvSpPr>
            <p:spPr>
              <a:xfrm>
                <a:off x="0" y="-57150"/>
                <a:ext cx="4571795" cy="281007"/>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751955" y="362195"/>
              <a:ext cx="412011" cy="405526"/>
            </a:xfrm>
            <a:custGeom>
              <a:avLst/>
              <a:gdLst/>
              <a:ahLst/>
              <a:cxnLst/>
              <a:rect r="r" b="b" t="t" l="l"/>
              <a:pathLst>
                <a:path h="405526" w="412011">
                  <a:moveTo>
                    <a:pt x="0" y="0"/>
                  </a:moveTo>
                  <a:lnTo>
                    <a:pt x="412011" y="0"/>
                  </a:lnTo>
                  <a:lnTo>
                    <a:pt x="412011" y="405525"/>
                  </a:lnTo>
                  <a:lnTo>
                    <a:pt x="0" y="4055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6983087" y="317929"/>
              <a:ext cx="5409669" cy="449792"/>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Hoves"/>
                  <a:ea typeface="TT Hoves"/>
                  <a:cs typeface="TT Hoves"/>
                  <a:sym typeface="TT Hoves"/>
                </a:rPr>
                <a:t>Matematika Diskrit | 2025</a:t>
              </a:r>
            </a:p>
          </p:txBody>
        </p:sp>
        <p:sp>
          <p:nvSpPr>
            <p:cNvPr name="TextBox 12" id="12"/>
            <p:cNvSpPr txBox="true"/>
            <p:nvPr/>
          </p:nvSpPr>
          <p:spPr>
            <a:xfrm rot="0">
              <a:off x="1338372" y="317929"/>
              <a:ext cx="3157914" cy="449792"/>
            </a:xfrm>
            <a:prstGeom prst="rect">
              <a:avLst/>
            </a:prstGeom>
          </p:spPr>
          <p:txBody>
            <a:bodyPr anchor="t" rtlCol="false" tIns="0" lIns="0" bIns="0" rIns="0">
              <a:spAutoFit/>
            </a:bodyPr>
            <a:lstStyle/>
            <a:p>
              <a:pPr algn="just" marL="0" indent="0" lvl="0">
                <a:lnSpc>
                  <a:spcPts val="2800"/>
                </a:lnSpc>
                <a:spcBef>
                  <a:spcPct val="0"/>
                </a:spcBef>
              </a:pPr>
              <a:r>
                <a:rPr lang="en-US" sz="2000">
                  <a:solidFill>
                    <a:srgbClr val="FFFFFF"/>
                  </a:solidFill>
                  <a:latin typeface="TT Hoves"/>
                  <a:ea typeface="TT Hoves"/>
                  <a:cs typeface="TT Hoves"/>
                  <a:sym typeface="TT Hoves"/>
                </a:rPr>
                <a:t>Kelompok 4</a:t>
              </a:r>
            </a:p>
          </p:txBody>
        </p:sp>
      </p:grpSp>
      <p:grpSp>
        <p:nvGrpSpPr>
          <p:cNvPr name="Group 13" id="13"/>
          <p:cNvGrpSpPr/>
          <p:nvPr/>
        </p:nvGrpSpPr>
        <p:grpSpPr>
          <a:xfrm rot="0">
            <a:off x="-302773" y="2506088"/>
            <a:ext cx="16664952" cy="5274823"/>
            <a:chOff x="0" y="0"/>
            <a:chExt cx="4389123" cy="1389254"/>
          </a:xfrm>
        </p:grpSpPr>
        <p:sp>
          <p:nvSpPr>
            <p:cNvPr name="Freeform 14" id="14"/>
            <p:cNvSpPr/>
            <p:nvPr/>
          </p:nvSpPr>
          <p:spPr>
            <a:xfrm flipH="false" flipV="false" rot="0">
              <a:off x="0" y="0"/>
              <a:ext cx="4389123" cy="1389254"/>
            </a:xfrm>
            <a:custGeom>
              <a:avLst/>
              <a:gdLst/>
              <a:ahLst/>
              <a:cxnLst/>
              <a:rect r="r" b="b" t="t" l="l"/>
              <a:pathLst>
                <a:path h="1389254" w="4389123">
                  <a:moveTo>
                    <a:pt x="0" y="0"/>
                  </a:moveTo>
                  <a:lnTo>
                    <a:pt x="4389123" y="0"/>
                  </a:lnTo>
                  <a:lnTo>
                    <a:pt x="4389123" y="1389254"/>
                  </a:lnTo>
                  <a:lnTo>
                    <a:pt x="0" y="1389254"/>
                  </a:lnTo>
                  <a:close/>
                </a:path>
              </a:pathLst>
            </a:custGeom>
            <a:gradFill rotWithShape="true">
              <a:gsLst>
                <a:gs pos="0">
                  <a:srgbClr val="596615">
                    <a:alpha val="100000"/>
                  </a:srgbClr>
                </a:gs>
                <a:gs pos="100000">
                  <a:srgbClr val="000000">
                    <a:alpha val="0"/>
                  </a:srgbClr>
                </a:gs>
              </a:gsLst>
              <a:lin ang="0"/>
            </a:gradFill>
          </p:spPr>
        </p:sp>
        <p:sp>
          <p:nvSpPr>
            <p:cNvPr name="TextBox 15" id="15"/>
            <p:cNvSpPr txBox="true"/>
            <p:nvPr/>
          </p:nvSpPr>
          <p:spPr>
            <a:xfrm>
              <a:off x="0" y="-57150"/>
              <a:ext cx="4389123" cy="1446404"/>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468512" y="4337796"/>
            <a:ext cx="8989521" cy="1678083"/>
          </a:xfrm>
          <a:prstGeom prst="rect">
            <a:avLst/>
          </a:prstGeom>
        </p:spPr>
        <p:txBody>
          <a:bodyPr anchor="t" rtlCol="false" tIns="0" lIns="0" bIns="0" rIns="0">
            <a:spAutoFit/>
          </a:bodyPr>
          <a:lstStyle/>
          <a:p>
            <a:pPr algn="l" marL="0" indent="0" lvl="0">
              <a:lnSpc>
                <a:spcPts val="13076"/>
              </a:lnSpc>
            </a:pPr>
            <a:r>
              <a:rPr lang="en-US" sz="11470">
                <a:solidFill>
                  <a:srgbClr val="FFFFFF"/>
                </a:solidFill>
                <a:latin typeface="TT Hoves"/>
                <a:ea typeface="TT Hoves"/>
                <a:cs typeface="TT Hoves"/>
                <a:sym typeface="TT Hoves"/>
              </a:rPr>
              <a:t>Terima Kasih</a:t>
            </a:r>
          </a:p>
        </p:txBody>
      </p:sp>
      <p:grpSp>
        <p:nvGrpSpPr>
          <p:cNvPr name="Group 17" id="17"/>
          <p:cNvGrpSpPr/>
          <p:nvPr/>
        </p:nvGrpSpPr>
        <p:grpSpPr>
          <a:xfrm rot="0">
            <a:off x="15465057" y="8882367"/>
            <a:ext cx="1794243" cy="751867"/>
            <a:chOff x="0" y="0"/>
            <a:chExt cx="969826" cy="406400"/>
          </a:xfrm>
        </p:grpSpPr>
        <p:sp>
          <p:nvSpPr>
            <p:cNvPr name="Freeform 18" id="18"/>
            <p:cNvSpPr/>
            <p:nvPr/>
          </p:nvSpPr>
          <p:spPr>
            <a:xfrm flipH="false" flipV="false" rot="0">
              <a:off x="0" y="0"/>
              <a:ext cx="969826" cy="406400"/>
            </a:xfrm>
            <a:custGeom>
              <a:avLst/>
              <a:gdLst/>
              <a:ahLst/>
              <a:cxnLst/>
              <a:rect r="r" b="b" t="t" l="l"/>
              <a:pathLst>
                <a:path h="406400" w="969826">
                  <a:moveTo>
                    <a:pt x="766626" y="0"/>
                  </a:moveTo>
                  <a:cubicBezTo>
                    <a:pt x="878851" y="0"/>
                    <a:pt x="969826" y="90976"/>
                    <a:pt x="969826" y="203200"/>
                  </a:cubicBezTo>
                  <a:cubicBezTo>
                    <a:pt x="969826" y="315424"/>
                    <a:pt x="878851" y="406400"/>
                    <a:pt x="76662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596614">
                    <a:alpha val="0"/>
                  </a:srgbClr>
                </a:gs>
                <a:gs pos="100000">
                  <a:srgbClr val="596615">
                    <a:alpha val="100000"/>
                  </a:srgbClr>
                </a:gs>
              </a:gsLst>
              <a:lin ang="0"/>
            </a:gradFill>
            <a:ln w="19050" cap="sq">
              <a:gradFill>
                <a:gsLst>
                  <a:gs pos="0">
                    <a:srgbClr val="596615">
                      <a:alpha val="100000"/>
                    </a:srgbClr>
                  </a:gs>
                  <a:gs pos="100000">
                    <a:srgbClr val="596614">
                      <a:alpha val="0"/>
                    </a:srgbClr>
                  </a:gs>
                </a:gsLst>
                <a:lin ang="0"/>
              </a:gradFill>
              <a:prstDash val="solid"/>
              <a:miter/>
            </a:ln>
          </p:spPr>
        </p:sp>
        <p:sp>
          <p:nvSpPr>
            <p:cNvPr name="TextBox 19" id="19"/>
            <p:cNvSpPr txBox="true"/>
            <p:nvPr/>
          </p:nvSpPr>
          <p:spPr>
            <a:xfrm>
              <a:off x="0" y="-47625"/>
              <a:ext cx="969826" cy="454025"/>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0">
            <a:off x="15805051" y="9059863"/>
            <a:ext cx="1114254" cy="349250"/>
          </a:xfrm>
          <a:prstGeom prst="rect">
            <a:avLst/>
          </a:prstGeom>
        </p:spPr>
        <p:txBody>
          <a:bodyPr anchor="t" rtlCol="false" tIns="0" lIns="0" bIns="0" rIns="0">
            <a:spAutoFit/>
          </a:bodyPr>
          <a:lstStyle/>
          <a:p>
            <a:pPr algn="ctr" marL="0" indent="0" lvl="0">
              <a:lnSpc>
                <a:spcPts val="2800"/>
              </a:lnSpc>
              <a:spcBef>
                <a:spcPct val="0"/>
              </a:spcBef>
            </a:pPr>
            <a:r>
              <a:rPr lang="en-US" sz="2000">
                <a:solidFill>
                  <a:srgbClr val="FFFFFF"/>
                </a:solidFill>
                <a:latin typeface="TT Hoves"/>
                <a:ea typeface="TT Hoves"/>
                <a:cs typeface="TT Hoves"/>
                <a:sym typeface="TT Hoves"/>
              </a:rPr>
              <a:t>PAGE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DAG5AlPDCO8</dc:identifier>
  <dcterms:modified xsi:type="dcterms:W3CDTF">2011-08-01T06:04:30Z</dcterms:modified>
  <cp:revision>1</cp:revision>
  <dc:title>PPT MATDIS KELOMPOK 8</dc:title>
</cp:coreProperties>
</file>